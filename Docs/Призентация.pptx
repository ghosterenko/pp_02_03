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Обычный">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80720" cy="5670720"/>
          </a:xfrm>
          <a:prstGeom prst="rect">
            <a:avLst/>
          </a:prstGeom>
          <a:noFill/>
          <a:ln w="0">
            <a:noFill/>
          </a:ln>
        </p:spPr>
      </p:pic>
      <p:sp>
        <p:nvSpPr>
          <p:cNvPr id="3" name="PlaceHolder 1"/>
          <p:cNvSpPr>
            <a:spLocks noGrp="1"/>
          </p:cNvSpPr>
          <p:nvPr>
            <p:ph type="title"/>
          </p:nvPr>
        </p:nvSpPr>
        <p:spPr>
          <a:xfrm>
            <a:off x="720720" y="576360"/>
            <a:ext cx="8639280" cy="2517840"/>
          </a:xfrm>
          <a:prstGeom prst="rect">
            <a:avLst/>
          </a:prstGeom>
          <a:noFill/>
          <a:ln w="0">
            <a:noFill/>
          </a:ln>
        </p:spPr>
        <p:txBody>
          <a:bodyPr lIns="0" tIns="0" rIns="0" bIns="0" anchor="ctr">
            <a:noAutofit/>
          </a:bodyPr>
          <a:lstStyle>
            <a:lvl1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7200" b="1" u="none" strike="noStrike">
                <a:solidFill>
                  <a:srgbClr val="FFFFFF"/>
                </a:solidFill>
                <a:effectLst/>
                <a:uFillTx/>
                <a:latin typeface="Noto Sans"/>
              </a:defRPr>
            </a:lvl1p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7200" b="1" u="none" strike="noStrike">
                <a:solidFill>
                  <a:srgbClr val="FFFFFF"/>
                </a:solidFill>
                <a:effectLst/>
                <a:uFillTx/>
                <a:latin typeface="Noto Sans"/>
              </a:rPr>
              <a:t>Для правки текста заглавия щёлкните мышью</a:t>
            </a:r>
            <a:endParaRPr lang="ru-RU" sz="7200" b="1" u="none" strike="noStrike">
              <a:solidFill>
                <a:srgbClr val="FFFFFF"/>
              </a:solidFill>
              <a:effectLst/>
              <a:uFillTx/>
              <a:latin typeface="Noto Sans"/>
            </a:endParaRPr>
          </a:p>
        </p:txBody>
      </p:sp>
      <p:sp>
        <p:nvSpPr>
          <p:cNvPr id="4" name="PlaceHolder 2"/>
          <p:cNvSpPr>
            <a:spLocks noGrp="1"/>
          </p:cNvSpPr>
          <p:nvPr>
            <p:ph type="body"/>
          </p:nvPr>
        </p:nvSpPr>
        <p:spPr>
          <a:xfrm>
            <a:off x="720360" y="3311640"/>
            <a:ext cx="6838920" cy="1977840"/>
          </a:xfrm>
          <a:prstGeom prst="rect">
            <a:avLst/>
          </a:prstGeom>
          <a:noFill/>
          <a:ln w="0">
            <a:noFill/>
          </a:ln>
        </p:spPr>
        <p:txBody>
          <a:bodyPr lIns="0" tIns="0" rIns="0" bIns="0" anchor="t">
            <a:normAutofit fontScale="32500" lnSpcReduction="19999"/>
          </a:bodyPr>
          <a:lstStyle>
            <a:lvl1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1pPr>
            <a:lvl2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2pPr>
            <a:lvl3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3pPr>
            <a:lvl4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4pPr>
            <a:lvl5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5pPr>
            <a:lvl6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6pPr>
            <a:lvl7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7pPr>
          </a:lstStyle>
          <a:p>
            <a: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Для правки структуры щёлкните мышью</a:t>
            </a:r>
            <a:endParaRPr lang="ru-RU" sz="3200" b="0" u="none" strike="noStrike">
              <a:solidFill>
                <a:srgbClr val="FFFFFF"/>
              </a:solidFill>
              <a:effectLst/>
              <a:uFillTx/>
              <a:latin typeface="Noto Sans"/>
            </a:endParaRPr>
          </a:p>
          <a:p>
            <a: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Второй уровень структуры</a:t>
            </a:r>
            <a:endParaRPr lang="ru-RU" sz="3200" b="0" u="none" strike="noStrike">
              <a:solidFill>
                <a:srgbClr val="FFFFFF"/>
              </a:solidFill>
              <a:effectLst/>
              <a:uFillTx/>
              <a:latin typeface="Noto Sans"/>
            </a:endParaRPr>
          </a:p>
          <a:p>
            <a: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Третий уровень структуры</a:t>
            </a:r>
            <a:endParaRPr lang="ru-RU" sz="3200" b="0" u="none" strike="noStrike">
              <a:solidFill>
                <a:srgbClr val="FFFFFF"/>
              </a:solidFill>
              <a:effectLst/>
              <a:uFillTx/>
              <a:latin typeface="Noto Sans"/>
            </a:endParaRPr>
          </a:p>
          <a:p>
            <a: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Четвёртый уровень структуры</a:t>
            </a:r>
            <a:endParaRPr lang="ru-RU" sz="3200" b="0" u="none" strike="noStrike">
              <a:solidFill>
                <a:srgbClr val="FFFFFF"/>
              </a:solidFill>
              <a:effectLst/>
              <a:uFillTx/>
              <a:latin typeface="Noto Sans"/>
            </a:endParaRPr>
          </a:p>
          <a:p>
            <a: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Пятый уровень структуры</a:t>
            </a:r>
            <a:endParaRPr lang="ru-RU" sz="3200" b="0" u="none" strike="noStrike">
              <a:solidFill>
                <a:srgbClr val="FFFFFF"/>
              </a:solidFill>
              <a:effectLst/>
              <a:uFillTx/>
              <a:latin typeface="Noto Sans"/>
            </a:endParaRPr>
          </a:p>
          <a:p>
            <a: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Шестой уровень структуры</a:t>
            </a:r>
            <a:endParaRPr lang="ru-RU" sz="3200" b="0" u="none" strike="noStrike">
              <a:solidFill>
                <a:srgbClr val="FFFFFF"/>
              </a:solidFill>
              <a:effectLst/>
              <a:uFillTx/>
              <a:latin typeface="Noto Sans"/>
            </a:endParaRPr>
          </a:p>
          <a:p>
            <a: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Седьмой уровень структуры</a:t>
            </a:r>
            <a:endParaRPr lang="ru-RU" sz="3200" b="0" u="none" strike="noStrike">
              <a:solidFill>
                <a:srgbClr val="FFFFFF"/>
              </a:solidFill>
              <a:effectLst/>
              <a:uFillTx/>
              <a:latin typeface="Noto San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Обычный">
    <p:bg>
      <p:bgPr>
        <a:solidFill>
          <a:srgbClr val="FFFFFF"/>
        </a:solidFill>
      </p:bgPr>
    </p:bg>
    <p:spTree>
      <p:nvGrpSpPr>
        <p:cNvPr id="1" name=""/>
        <p:cNvGrpSpPr/>
        <p:nvPr/>
      </p:nvGrpSpPr>
      <p:grpSpPr>
        <a:xfrm>
          <a:off x="0" y="0"/>
          <a:ext cx="0" cy="0"/>
          <a:chOff x="0" y="0"/>
          <a:chExt cx="0" cy="0"/>
        </a:xfrm>
      </p:grpSpPr>
      <p:pic>
        <p:nvPicPr>
          <p:cNvPr id="5" name=""/>
          <p:cNvPicPr/>
          <p:nvPr/>
        </p:nvPicPr>
        <p:blipFill>
          <a:blip r:embed="rId2"/>
          <a:stretch/>
        </p:blipFill>
        <p:spPr>
          <a:xfrm>
            <a:off x="0" y="0"/>
            <a:ext cx="10080720" cy="5670720"/>
          </a:xfrm>
          <a:prstGeom prst="rect">
            <a:avLst/>
          </a:prstGeom>
          <a:noFill/>
          <a:ln w="0">
            <a:noFill/>
          </a:ln>
        </p:spPr>
      </p:pic>
      <p:sp>
        <p:nvSpPr>
          <p:cNvPr id="6" name="PlaceHolder 1"/>
          <p:cNvSpPr>
            <a:spLocks noGrp="1"/>
          </p:cNvSpPr>
          <p:nvPr>
            <p:ph type="title"/>
          </p:nvPr>
        </p:nvSpPr>
        <p:spPr>
          <a:xfrm>
            <a:off x="720720" y="576360"/>
            <a:ext cx="8639280" cy="2517840"/>
          </a:xfrm>
          <a:prstGeom prst="rect">
            <a:avLst/>
          </a:prstGeom>
          <a:noFill/>
          <a:ln w="0">
            <a:noFill/>
          </a:ln>
        </p:spPr>
        <p:txBody>
          <a:bodyPr lIns="0" tIns="0" rIns="0" bIns="0" anchor="ctr">
            <a:noAutofit/>
          </a:bodyPr>
          <a:lstStyle>
            <a:lvl1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7200" b="1" u="none" strike="noStrike">
                <a:solidFill>
                  <a:srgbClr val="FFFFFF"/>
                </a:solidFill>
                <a:effectLst/>
                <a:uFillTx/>
                <a:latin typeface="Noto Sans"/>
              </a:defRPr>
            </a:lvl1p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7200" b="1" u="none" strike="noStrike">
                <a:solidFill>
                  <a:srgbClr val="FFFFFF"/>
                </a:solidFill>
                <a:effectLst/>
                <a:uFillTx/>
                <a:latin typeface="Noto Sans"/>
              </a:rPr>
              <a:t>Для правки текста заглавия щёлкните мышью</a:t>
            </a:r>
            <a:endParaRPr lang="ru-RU" sz="7200" b="1" u="none" strike="noStrike">
              <a:solidFill>
                <a:srgbClr val="FFFFFF"/>
              </a:solidFill>
              <a:effectLst/>
              <a:uFillTx/>
              <a:latin typeface="Noto Sans"/>
            </a:endParaRPr>
          </a:p>
        </p:txBody>
      </p:sp>
      <p:sp>
        <p:nvSpPr>
          <p:cNvPr id="7" name="PlaceHolder 2"/>
          <p:cNvSpPr>
            <a:spLocks noGrp="1"/>
          </p:cNvSpPr>
          <p:nvPr>
            <p:ph type="body"/>
          </p:nvPr>
        </p:nvSpPr>
        <p:spPr>
          <a:xfrm>
            <a:off x="720360" y="3311640"/>
            <a:ext cx="6838920" cy="1977840"/>
          </a:xfrm>
          <a:prstGeom prst="rect">
            <a:avLst/>
          </a:prstGeom>
          <a:noFill/>
          <a:ln w="0">
            <a:noFill/>
          </a:ln>
        </p:spPr>
        <p:txBody>
          <a:bodyPr lIns="0" tIns="0" rIns="0" bIns="0" anchor="t">
            <a:normAutofit fontScale="32500" lnSpcReduction="19999"/>
          </a:bodyPr>
          <a:lstStyle>
            <a:lvl1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1pPr>
            <a:lvl2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2pPr>
            <a:lvl3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3pPr>
            <a:lvl4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4pPr>
            <a:lvl5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5pPr>
            <a:lvl6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6pPr>
            <a:lvl7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7pPr>
          </a:lstStyle>
          <a:p>
            <a: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Для правки структуры щёлкните мышью</a:t>
            </a:r>
            <a:endParaRPr lang="ru-RU" sz="3200" b="0" u="none" strike="noStrike">
              <a:solidFill>
                <a:srgbClr val="FFFFFF"/>
              </a:solidFill>
              <a:effectLst/>
              <a:uFillTx/>
              <a:latin typeface="Noto Sans"/>
            </a:endParaRPr>
          </a:p>
          <a:p>
            <a: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Второй уровень структуры</a:t>
            </a:r>
            <a:endParaRPr lang="ru-RU" sz="3200" b="0" u="none" strike="noStrike">
              <a:solidFill>
                <a:srgbClr val="FFFFFF"/>
              </a:solidFill>
              <a:effectLst/>
              <a:uFillTx/>
              <a:latin typeface="Noto Sans"/>
            </a:endParaRPr>
          </a:p>
          <a:p>
            <a: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Третий уровень структуры</a:t>
            </a:r>
            <a:endParaRPr lang="ru-RU" sz="3200" b="0" u="none" strike="noStrike">
              <a:solidFill>
                <a:srgbClr val="FFFFFF"/>
              </a:solidFill>
              <a:effectLst/>
              <a:uFillTx/>
              <a:latin typeface="Noto Sans"/>
            </a:endParaRPr>
          </a:p>
          <a:p>
            <a: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Четвёртый уровень структуры</a:t>
            </a:r>
            <a:endParaRPr lang="ru-RU" sz="3200" b="0" u="none" strike="noStrike">
              <a:solidFill>
                <a:srgbClr val="FFFFFF"/>
              </a:solidFill>
              <a:effectLst/>
              <a:uFillTx/>
              <a:latin typeface="Noto Sans"/>
            </a:endParaRPr>
          </a:p>
          <a:p>
            <a: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Пятый уровень структуры</a:t>
            </a:r>
            <a:endParaRPr lang="ru-RU" sz="3200" b="0" u="none" strike="noStrike">
              <a:solidFill>
                <a:srgbClr val="FFFFFF"/>
              </a:solidFill>
              <a:effectLst/>
              <a:uFillTx/>
              <a:latin typeface="Noto Sans"/>
            </a:endParaRPr>
          </a:p>
          <a:p>
            <a: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Шестой уровень структуры</a:t>
            </a:r>
            <a:endParaRPr lang="ru-RU" sz="3200" b="0" u="none" strike="noStrike">
              <a:solidFill>
                <a:srgbClr val="FFFFFF"/>
              </a:solidFill>
              <a:effectLst/>
              <a:uFillTx/>
              <a:latin typeface="Noto Sans"/>
            </a:endParaRPr>
          </a:p>
          <a:p>
            <a: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Седьмой уровень структуры</a:t>
            </a:r>
            <a:endParaRPr lang="ru-RU" sz="3200" b="0" u="none" strike="noStrike">
              <a:solidFill>
                <a:srgbClr val="FFFFFF"/>
              </a:solidFill>
              <a:effectLst/>
              <a:uFillTx/>
              <a:latin typeface="Noto San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
          <p:cNvSpPr/>
          <p:nvPr/>
        </p:nvSpPr>
        <p:spPr>
          <a:xfrm>
            <a:off x="720720" y="3203640"/>
            <a:ext cx="6624720" cy="1440"/>
          </a:xfrm>
          <a:prstGeom prst="line">
            <a:avLst/>
          </a:prstGeom>
          <a:ln cap="rnd" w="36000">
            <a:solidFill>
              <a:srgbClr val="FFFFFF"/>
            </a:solidFill>
            <a:round/>
          </a:ln>
        </p:spPr>
        <p:style>
          <a:lnRef idx="0"/>
          <a:fillRef idx="0"/>
          <a:effectRef idx="0"/>
          <a:fontRef idx="minor"/>
        </p:style>
        <p:txBody>
          <a:bodyPr lIns="90000" tIns="-45360" rIns="90000" bIns="-45360" anchor="t">
            <a:noAutofit/>
          </a:bodyPr>
          <a:p>
            <a:pPr>
              <a:lnSpc>
                <a:spcPct val="113000"/>
              </a:lnSpc>
              <a:spcBef>
                <a:spcPts val="11"/>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ru-RU" sz="1800" b="0" u="none" strike="noStrike">
              <a:solidFill>
                <a:srgbClr val="FFFFFF"/>
              </a:solidFill>
              <a:effectLst/>
              <a:uFillTx/>
              <a:latin typeface="Noto Sans"/>
            </a:endParaRPr>
          </a:p>
        </p:txBody>
      </p:sp>
      <p:sp>
        <p:nvSpPr>
          <p:cNvPr id="9" name="PlaceHolder 1"/>
          <p:cNvSpPr>
            <a:spLocks noGrp="1"/>
          </p:cNvSpPr>
          <p:nvPr>
            <p:ph type="title"/>
          </p:nvPr>
        </p:nvSpPr>
        <p:spPr>
          <a:xfrm>
            <a:off x="720720" y="576360"/>
            <a:ext cx="8640720" cy="2519280"/>
          </a:xfrm>
          <a:prstGeom prst="rect">
            <a:avLst/>
          </a:prstGeom>
          <a:noFill/>
          <a:ln w="0">
            <a:noFill/>
          </a:ln>
        </p:spPr>
        <p:txBody>
          <a:bodyPr lIns="0" tIns="0" rIns="0" bIns="0" anchor="ctr">
            <a:no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Презентация-отчет по производственной практике</a:t>
            </a:r>
            <a:endParaRPr lang="ru-RU" sz="3200" b="1" u="none" strike="noStrike">
              <a:solidFill>
                <a:srgbClr val="FFFFFF"/>
              </a:solidFill>
              <a:effectLst/>
              <a:uFillTx/>
              <a:latin typeface="Noto Sans"/>
            </a:endParaRPr>
          </a:p>
        </p:txBody>
      </p:sp>
      <p:sp>
        <p:nvSpPr>
          <p:cNvPr id="10" name="PlaceHolder 2"/>
          <p:cNvSpPr>
            <a:spLocks noGrp="1"/>
          </p:cNvSpPr>
          <p:nvPr>
            <p:ph type="subTitle"/>
          </p:nvPr>
        </p:nvSpPr>
        <p:spPr>
          <a:xfrm>
            <a:off x="720720" y="3311640"/>
            <a:ext cx="6840720" cy="1800000"/>
          </a:xfrm>
          <a:prstGeom prst="rect">
            <a:avLst/>
          </a:prstGeom>
          <a:noFill/>
          <a:ln w="0">
            <a:noFill/>
          </a:ln>
        </p:spPr>
        <p:txBody>
          <a:bodyPr lIns="0" tIns="0" rIns="0" bIns="0" anchor="t">
            <a:no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a:solidFill>
                  <a:srgbClr val="FFFFFF"/>
                </a:solidFill>
                <a:effectLst/>
                <a:uFillTx/>
                <a:latin typeface="Noto Sans"/>
              </a:rPr>
              <a:t>Подготовил: Коньков Арсений</a:t>
            </a:r>
            <a:endParaRPr lang="ru-RU" sz="3200" b="0" u="none" strike="noStrike">
              <a:solidFill>
                <a:srgbClr val="FFFFFF"/>
              </a:solidFill>
              <a:effectLst/>
              <a:uFillTx/>
              <a:latin typeface="Noto Sans"/>
            </a:endParaRPr>
          </a:p>
          <a:p>
            <a:pPr indent="0" algn="l">
              <a:lnSpc>
                <a:spcPct val="130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a:solidFill>
                  <a:srgbClr val="FFFFFF"/>
                </a:solidFill>
                <a:effectLst/>
                <a:uFillTx/>
                <a:latin typeface="Noto Sans"/>
              </a:rPr>
              <a:t>Группа: ПР-32</a:t>
            </a:r>
            <a:endParaRPr lang="ru-RU" sz="3200" b="0" u="none" strike="noStrike">
              <a:solidFill>
                <a:srgbClr val="FFFFFF"/>
              </a:solidFill>
              <a:effectLst/>
              <a:uFillTx/>
              <a:latin typeface="Noto Sans"/>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60000" y="180000"/>
            <a:ext cx="8640720" cy="720720"/>
          </a:xfrm>
          <a:prstGeom prst="rect">
            <a:avLst/>
          </a:prstGeom>
          <a:noFill/>
          <a:ln w="0">
            <a:noFill/>
          </a:ln>
        </p:spPr>
        <p:txBody>
          <a:bodyPr lIns="0" tIns="0" rIns="0" bIns="0" anchor="ctr">
            <a:no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Введение</a:t>
            </a:r>
            <a:endParaRPr lang="ru-RU" sz="3200" b="1" u="none" strike="noStrike">
              <a:solidFill>
                <a:srgbClr val="FFFFFF"/>
              </a:solidFill>
              <a:effectLst/>
              <a:uFillTx/>
              <a:latin typeface="Noto Sans"/>
            </a:endParaRPr>
          </a:p>
        </p:txBody>
      </p:sp>
      <p:sp>
        <p:nvSpPr>
          <p:cNvPr id="12" name="PlaceHolder 2"/>
          <p:cNvSpPr>
            <a:spLocks noGrp="1"/>
          </p:cNvSpPr>
          <p:nvPr>
            <p:ph/>
          </p:nvPr>
        </p:nvSpPr>
        <p:spPr>
          <a:xfrm>
            <a:off x="360000" y="1081080"/>
            <a:ext cx="5759640" cy="4140000"/>
          </a:xfrm>
          <a:prstGeom prst="rect">
            <a:avLst/>
          </a:prstGeom>
          <a:noFill/>
          <a:ln w="0">
            <a:noFill/>
          </a:ln>
        </p:spPr>
        <p:txBody>
          <a:bodyPr lIns="0" tIns="0" rIns="0" bIns="0" anchor="t">
            <a:normAutofit fontScale="85000" lnSpcReduction="19999"/>
          </a:bodyPr>
          <a:p>
            <a:pPr marL="431640" indent="-323640" algn="l">
              <a:lnSpc>
                <a:spcPct val="11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a:solidFill>
                  <a:srgbClr val="FFFFFF"/>
                </a:solidFill>
                <a:effectLst/>
                <a:uFillTx/>
                <a:latin typeface="Noto Sans"/>
              </a:rPr>
              <a:t>Цели:</a:t>
            </a:r>
            <a:endParaRPr lang="ru-RU" sz="32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Изучить архитектуру микросервисов на платформе ASP.NET Core </a:t>
            </a:r>
            <a:endParaRPr lang="ru-RU" sz="18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Освоить разработку REST API </a:t>
            </a:r>
            <a:endParaRPr lang="ru-RU" sz="18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Научиться работать с Entity Framework Core и SQLite </a:t>
            </a:r>
            <a:endParaRPr lang="ru-RU" sz="18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Освоить интеграцию микросервисов </a:t>
            </a:r>
            <a:endParaRPr lang="ru-RU" sz="1800" b="0" u="none" strike="noStrike">
              <a:solidFill>
                <a:srgbClr val="FFFFFF"/>
              </a:solidFill>
              <a:effectLst/>
              <a:uFillTx/>
              <a:latin typeface="Noto Sans"/>
            </a:endParaRPr>
          </a:p>
          <a:p>
            <a:pPr marL="431640" indent="-323640" algn="l">
              <a:lnSpc>
                <a:spcPct val="11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a:solidFill>
                  <a:srgbClr val="FFFFFF"/>
                </a:solidFill>
                <a:effectLst/>
                <a:uFillTx/>
                <a:latin typeface="Noto Sans"/>
                <a:ea typeface="Liberation Mono;Courier New;Dej"/>
              </a:rPr>
              <a:t>Задачи:</a:t>
            </a:r>
            <a:endParaRPr lang="ru-RU" sz="32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Разработать 5 микросервисов для расчёта стоимости строительных объектов </a:t>
            </a:r>
            <a:endParaRPr lang="ru-RU" sz="18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Интегрировать базу данных SQLite с использованием EF Core </a:t>
            </a:r>
            <a:endParaRPr lang="ru-RU" sz="18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Реализовать API Gateway для объединения сервисов </a:t>
            </a:r>
            <a:endParaRPr lang="ru-RU" sz="1800" b="0" u="none" strike="noStrike">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a:solidFill>
                  <a:srgbClr val="FFFFFF"/>
                </a:solidFill>
                <a:effectLst/>
                <a:uFillTx/>
                <a:latin typeface="Noto Sans"/>
                <a:ea typeface="Liberation Mono;Courier New;Dej"/>
              </a:rPr>
              <a:t>Создать фронтенд для визуализации работы системы </a:t>
            </a:r>
            <a:endParaRPr lang="ru-RU" sz="1800" b="0" u="none" strike="noStrike">
              <a:solidFill>
                <a:srgbClr val="FFFFFF"/>
              </a:solidFill>
              <a:effectLst/>
              <a:uFillTx/>
              <a:latin typeface="Noto Sans"/>
            </a:endParaRPr>
          </a:p>
          <a:p>
            <a:pPr indent="0" algn="l">
              <a:lnSpc>
                <a:spcPct val="94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ru-RU" sz="1000" b="0" u="none" strike="noStrike">
              <a:solidFill>
                <a:srgbClr val="FFFFFF"/>
              </a:solidFill>
              <a:effectLst/>
              <a:uFillTx/>
              <a:latin typeface="Noto Sans"/>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360000" y="576000"/>
            <a:ext cx="8640720" cy="684000"/>
          </a:xfrm>
          <a:prstGeom prst="rect">
            <a:avLst/>
          </a:prstGeom>
          <a:noFill/>
          <a:ln w="0">
            <a:noFill/>
          </a:ln>
        </p:spPr>
        <p:txBody>
          <a:bodyPr lIns="0" tIns="0" rIns="0" bIns="0" anchor="ctr">
            <a:no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Используемые технологии</a:t>
            </a:r>
            <a:endParaRPr lang="ru-RU" sz="3200" b="1" u="none" strike="noStrike">
              <a:solidFill>
                <a:srgbClr val="FFFFFF"/>
              </a:solidFill>
              <a:effectLst/>
              <a:uFillTx/>
              <a:latin typeface="Noto Sans"/>
            </a:endParaRPr>
          </a:p>
        </p:txBody>
      </p:sp>
      <p:sp>
        <p:nvSpPr>
          <p:cNvPr id="14" name="PlaceHolder 2"/>
          <p:cNvSpPr>
            <a:spLocks noGrp="1"/>
          </p:cNvSpPr>
          <p:nvPr>
            <p:ph/>
          </p:nvPr>
        </p:nvSpPr>
        <p:spPr>
          <a:xfrm>
            <a:off x="360000" y="1800360"/>
            <a:ext cx="8999640" cy="1800000"/>
          </a:xfrm>
          <a:prstGeom prst="rect">
            <a:avLst/>
          </a:prstGeom>
          <a:noFill/>
          <a:ln w="0">
            <a:noFill/>
          </a:ln>
        </p:spPr>
        <p:txBody>
          <a:bodyPr lIns="0" tIns="10800" rIns="0" bIns="0" anchor="t">
            <a:normAutofit/>
          </a:bodyPr>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Среда разработки: Visual Studio 2022 </a:t>
            </a:r>
            <a:endParaRPr lang="ru-RU" sz="1200" b="0" u="none" strike="noStrike">
              <a:solidFill>
                <a:srgbClr val="FFFFFF"/>
              </a:solidFill>
              <a:effectLst/>
              <a:uFillTx/>
              <a:latin typeface="Noto Sans"/>
            </a:endParaRPr>
          </a:p>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Язык программирования: C# </a:t>
            </a:r>
            <a:endParaRPr lang="ru-RU" sz="1200" b="0" u="none" strike="noStrike">
              <a:solidFill>
                <a:srgbClr val="FFFFFF"/>
              </a:solidFill>
              <a:effectLst/>
              <a:uFillTx/>
              <a:latin typeface="Noto Sans"/>
            </a:endParaRPr>
          </a:p>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Фреймворки: ASP.NET Core Minimal API, Entity Framework Core </a:t>
            </a:r>
            <a:endParaRPr lang="ru-RU" sz="1200" b="0" u="none" strike="noStrike">
              <a:solidFill>
                <a:srgbClr val="FFFFFF"/>
              </a:solidFill>
              <a:effectLst/>
              <a:uFillTx/>
              <a:latin typeface="Noto Sans"/>
            </a:endParaRPr>
          </a:p>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База данных: SQLite </a:t>
            </a:r>
            <a:endParaRPr lang="ru-RU" sz="1200" b="0" u="none" strike="noStrike">
              <a:solidFill>
                <a:srgbClr val="FFFFFF"/>
              </a:solidFill>
              <a:effectLst/>
              <a:uFillTx/>
              <a:latin typeface="Noto Sans"/>
            </a:endParaRPr>
          </a:p>
        </p:txBody>
      </p:sp>
      <p:pic>
        <p:nvPicPr>
          <p:cNvPr id="15" name=""/>
          <p:cNvPicPr/>
          <p:nvPr/>
        </p:nvPicPr>
        <p:blipFill>
          <a:blip r:embed="rId1"/>
          <a:stretch/>
        </p:blipFill>
        <p:spPr>
          <a:xfrm>
            <a:off x="7920000" y="1260360"/>
            <a:ext cx="1258920" cy="1417680"/>
          </a:xfrm>
          <a:prstGeom prst="rect">
            <a:avLst/>
          </a:prstGeom>
          <a:noFill/>
          <a:ln w="0">
            <a:noFill/>
          </a:ln>
        </p:spPr>
      </p:pic>
      <p:pic>
        <p:nvPicPr>
          <p:cNvPr id="16" name=""/>
          <p:cNvPicPr/>
          <p:nvPr/>
        </p:nvPicPr>
        <p:blipFill>
          <a:blip r:embed="rId2"/>
          <a:stretch/>
        </p:blipFill>
        <p:spPr>
          <a:xfrm>
            <a:off x="7920000" y="3060720"/>
            <a:ext cx="1260360" cy="1260360"/>
          </a:xfrm>
          <a:prstGeom prst="rect">
            <a:avLst/>
          </a:prstGeom>
          <a:noFill/>
          <a:ln w="0">
            <a:noFill/>
          </a:ln>
        </p:spPr>
      </p:pic>
      <p:pic>
        <p:nvPicPr>
          <p:cNvPr id="17" name=""/>
          <p:cNvPicPr/>
          <p:nvPr/>
        </p:nvPicPr>
        <p:blipFill>
          <a:blip r:embed="rId3"/>
          <a:stretch/>
        </p:blipFill>
        <p:spPr>
          <a:xfrm>
            <a:off x="4626000" y="2871720"/>
            <a:ext cx="2933640" cy="1629000"/>
          </a:xfrm>
          <a:prstGeom prst="rect">
            <a:avLst/>
          </a:prstGeom>
          <a:noFill/>
          <a:ln w="0">
            <a:noFill/>
          </a:ln>
        </p:spPr>
      </p:pic>
      <p:pic>
        <p:nvPicPr>
          <p:cNvPr id="18" name=""/>
          <p:cNvPicPr/>
          <p:nvPr/>
        </p:nvPicPr>
        <p:blipFill>
          <a:blip r:embed="rId4"/>
          <a:stretch/>
        </p:blipFill>
        <p:spPr>
          <a:xfrm>
            <a:off x="5940360" y="1260360"/>
            <a:ext cx="1619280" cy="1619280"/>
          </a:xfrm>
          <a:prstGeom prst="rect">
            <a:avLst/>
          </a:prstGeom>
          <a:noFill/>
          <a:ln w="0">
            <a:noFill/>
          </a:ln>
        </p:spPr>
      </p:pic>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0720" y="179640"/>
            <a:ext cx="8640720" cy="900360"/>
          </a:xfrm>
          <a:prstGeom prst="rect">
            <a:avLst/>
          </a:prstGeom>
          <a:noFill/>
          <a:ln w="0">
            <a:noFill/>
          </a:ln>
        </p:spPr>
        <p:txBody>
          <a:bodyPr lIns="0" tIns="0" rIns="0" bIns="0" anchor="ctr">
            <a:noAutofit/>
          </a:bodyPr>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Архитектура системы</a:t>
            </a:r>
            <a:br>
              <a:rPr sz="3200"/>
            </a:br>
            <a:endParaRPr lang="ru-RU" sz="3200" b="1" u="none" strike="noStrike">
              <a:solidFill>
                <a:srgbClr val="FFFFFF"/>
              </a:solidFill>
              <a:effectLst/>
              <a:uFillTx/>
              <a:latin typeface="Noto Sans"/>
            </a:endParaRPr>
          </a:p>
        </p:txBody>
      </p:sp>
      <p:pic>
        <p:nvPicPr>
          <p:cNvPr id="20" name=""/>
          <p:cNvPicPr/>
          <p:nvPr/>
        </p:nvPicPr>
        <p:blipFill>
          <a:blip r:embed="rId1"/>
          <a:stretch/>
        </p:blipFill>
        <p:spPr>
          <a:xfrm>
            <a:off x="2880000" y="874440"/>
            <a:ext cx="4680000" cy="4345560"/>
          </a:xfrm>
          <a:prstGeom prst="rect">
            <a:avLst/>
          </a:prstGeom>
          <a:noFill/>
          <a:ln w="0">
            <a:noFill/>
          </a:ln>
        </p:spPr>
      </p:pic>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540000" y="360000"/>
            <a:ext cx="8640720" cy="503280"/>
          </a:xfrm>
          <a:prstGeom prst="rect">
            <a:avLst/>
          </a:prstGeom>
          <a:noFill/>
          <a:ln w="0">
            <a:noFill/>
          </a:ln>
        </p:spPr>
        <p:txBody>
          <a:bodyPr lIns="0" tIns="0" rIns="0" bIns="0" anchor="ctr">
            <a:noAutofit/>
          </a:bodyPr>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Код микросервисов — Главный</a:t>
            </a:r>
            <a:br>
              <a:rPr sz="1600"/>
            </a:br>
            <a:endParaRPr lang="ru-RU" sz="3200" b="1" u="none" strike="noStrike">
              <a:solidFill>
                <a:srgbClr val="FFFFFF"/>
              </a:solidFill>
              <a:effectLst/>
              <a:uFillTx/>
              <a:latin typeface="Noto Sans"/>
            </a:endParaRPr>
          </a:p>
        </p:txBody>
      </p:sp>
      <p:pic>
        <p:nvPicPr>
          <p:cNvPr id="22" name=""/>
          <p:cNvPicPr/>
          <p:nvPr/>
        </p:nvPicPr>
        <p:blipFill>
          <a:blip r:embed="rId1"/>
          <a:stretch/>
        </p:blipFill>
        <p:spPr>
          <a:xfrm>
            <a:off x="2320920" y="858960"/>
            <a:ext cx="4699080" cy="3959280"/>
          </a:xfrm>
          <a:prstGeom prst="rect">
            <a:avLst/>
          </a:prstGeom>
          <a:noFill/>
          <a:ln w="0">
            <a:noFill/>
          </a:ln>
        </p:spPr>
      </p:pic>
      <p:sp>
        <p:nvSpPr>
          <p:cNvPr id="23" name=""/>
          <p:cNvSpPr/>
          <p:nvPr/>
        </p:nvSpPr>
        <p:spPr>
          <a:xfrm>
            <a:off x="8099280" y="2700360"/>
            <a:ext cx="1079640" cy="1079640"/>
          </a:xfrm>
          <a:prstGeom prst="rect">
            <a:avLst/>
          </a:prstGeom>
          <a:noFill/>
          <a:ln w="0">
            <a:noFill/>
          </a:ln>
        </p:spPr>
        <p:style>
          <a:lnRef idx="0"/>
          <a:fillRef idx="0"/>
          <a:effectRef idx="0"/>
          <a:fontRef idx="minor"/>
        </p:style>
        <p:txBody>
          <a:bodyPr wrap="none" lIns="90000" tIns="46800" rIns="90000" bIns="46800" anchor="ctr">
            <a:noAutofit/>
          </a:bodyPr>
          <a:p>
            <a:pPr>
              <a:lnSpc>
                <a:spcPct val="113000"/>
              </a:lnSpc>
              <a:spcBef>
                <a:spcPts val="11"/>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ru-RU" sz="1800" b="0" u="none" strike="noStrike">
              <a:solidFill>
                <a:srgbClr val="FFFFFF"/>
              </a:solidFill>
              <a:effectLst/>
              <a:uFillTx/>
              <a:latin typeface="Noto Sans"/>
            </a:endParaRPr>
          </a:p>
        </p:txBody>
      </p:sp>
      <p:sp>
        <p:nvSpPr>
          <p:cNvPr id="24" name=""/>
          <p:cNvSpPr/>
          <p:nvPr/>
        </p:nvSpPr>
        <p:spPr>
          <a:xfrm>
            <a:off x="2339640" y="4860000"/>
            <a:ext cx="4860360" cy="401760"/>
          </a:xfrm>
          <a:prstGeom prst="rect">
            <a:avLst/>
          </a:prstGeom>
          <a:noFill/>
          <a:ln w="0">
            <a:noFill/>
          </a:ln>
        </p:spPr>
        <p:style>
          <a:lnRef idx="0"/>
          <a:fillRef idx="0"/>
          <a:effectRef idx="0"/>
          <a:fontRef idx="minor"/>
        </p:style>
        <p:txBody>
          <a:bodyPr lIns="90000" tIns="45000" rIns="90000" bIns="45000" anchor="t">
            <a:noAutofit/>
          </a:bodyPr>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MainService (порт 5000) — API Gateway</a:t>
            </a:r>
            <a:endParaRPr lang="ru-RU" sz="1800" b="1" u="none" strike="noStrike">
              <a:solidFill>
                <a:srgbClr val="FFFFFF"/>
              </a:solidFill>
              <a:effectLst/>
              <a:uFillTx/>
              <a:latin typeface="Noto Sans"/>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720720" y="216000"/>
            <a:ext cx="8640720" cy="503280"/>
          </a:xfrm>
          <a:prstGeom prst="rect">
            <a:avLst/>
          </a:prstGeom>
          <a:noFill/>
          <a:ln w="0">
            <a:noFill/>
          </a:ln>
        </p:spPr>
        <p:txBody>
          <a:bodyPr lIns="0" tIns="0" rIns="0" bIns="0" anchor="ctr">
            <a:noAutofit/>
          </a:bodyPr>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Код микросервисов — Вспомогательные микросервисы </a:t>
            </a:r>
            <a:endParaRPr lang="ru-RU" sz="3200" b="1" u="none" strike="noStrike">
              <a:solidFill>
                <a:srgbClr val="FFFFFF"/>
              </a:solidFill>
              <a:effectLst/>
              <a:uFillTx/>
              <a:latin typeface="Noto Sans"/>
            </a:endParaRPr>
          </a:p>
        </p:txBody>
      </p:sp>
      <p:sp>
        <p:nvSpPr>
          <p:cNvPr id="26" name="PlaceHolder 2"/>
          <p:cNvSpPr>
            <a:spLocks noGrp="1"/>
          </p:cNvSpPr>
          <p:nvPr>
            <p:ph/>
          </p:nvPr>
        </p:nvSpPr>
        <p:spPr>
          <a:xfrm>
            <a:off x="4859280" y="1259640"/>
            <a:ext cx="3060720" cy="360360"/>
          </a:xfrm>
          <a:prstGeom prst="rect">
            <a:avLst/>
          </a:prstGeom>
          <a:noFill/>
          <a:ln w="0">
            <a:noFill/>
          </a:ln>
        </p:spPr>
        <p:txBody>
          <a:bodyPr lIns="0" tIns="0" rIns="0" bIns="0" anchor="t">
            <a:normAutofit/>
          </a:bodyPr>
          <a:p>
            <a:pPr marL="431640" indent="-32364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BonusService (порт 5004)</a:t>
            </a:r>
            <a:endParaRPr lang="ru-RU" sz="1800" b="0" u="none" strike="noStrike">
              <a:solidFill>
                <a:srgbClr val="FFFFFF"/>
              </a:solidFill>
              <a:effectLst/>
              <a:uFillTx/>
              <a:latin typeface="Noto Sans"/>
            </a:endParaRPr>
          </a:p>
        </p:txBody>
      </p:sp>
      <p:pic>
        <p:nvPicPr>
          <p:cNvPr id="27" name=""/>
          <p:cNvPicPr/>
          <p:nvPr/>
        </p:nvPicPr>
        <p:blipFill>
          <a:blip r:embed="rId1"/>
          <a:stretch/>
        </p:blipFill>
        <p:spPr>
          <a:xfrm>
            <a:off x="739800" y="1123560"/>
            <a:ext cx="3940200" cy="1936440"/>
          </a:xfrm>
          <a:prstGeom prst="rect">
            <a:avLst/>
          </a:prstGeom>
          <a:noFill/>
          <a:ln w="0">
            <a:noFill/>
          </a:ln>
        </p:spPr>
      </p:pic>
      <p:pic>
        <p:nvPicPr>
          <p:cNvPr id="28" name=""/>
          <p:cNvPicPr/>
          <p:nvPr/>
        </p:nvPicPr>
        <p:blipFill>
          <a:blip r:embed="rId2"/>
          <a:stretch/>
        </p:blipFill>
        <p:spPr>
          <a:xfrm>
            <a:off x="807480" y="3240000"/>
            <a:ext cx="3692520" cy="2290680"/>
          </a:xfrm>
          <a:prstGeom prst="rect">
            <a:avLst/>
          </a:prstGeom>
          <a:noFill/>
          <a:ln w="0">
            <a:noFill/>
          </a:ln>
        </p:spPr>
      </p:pic>
      <p:sp>
        <p:nvSpPr>
          <p:cNvPr id="29" name=""/>
          <p:cNvSpPr/>
          <p:nvPr/>
        </p:nvSpPr>
        <p:spPr>
          <a:xfrm>
            <a:off x="4926240" y="3420000"/>
            <a:ext cx="2993760" cy="655560"/>
          </a:xfrm>
          <a:prstGeom prst="rect">
            <a:avLst/>
          </a:prstGeom>
          <a:noFill/>
          <a:ln w="0">
            <a:noFill/>
          </a:ln>
        </p:spPr>
        <p:style>
          <a:lnRef idx="0"/>
          <a:fillRef idx="0"/>
          <a:effectRef idx="0"/>
          <a:fontRef idx="minor"/>
        </p:style>
        <p:txBody>
          <a:bodyPr lIns="90000" tIns="45000" rIns="90000" bIns="45000" anchor="t">
            <a:noAutofit/>
          </a:bodyPr>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PriceService (порт 5001)</a:t>
            </a:r>
            <a:endParaRPr lang="ru-RU" sz="1800" b="0" u="none" strike="noStrike">
              <a:solidFill>
                <a:srgbClr val="FFFFFF"/>
              </a:solidFill>
              <a:effectLst/>
              <a:uFillTx/>
              <a:latin typeface="Noto Sans"/>
            </a:endParaRPr>
          </a:p>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ru-RU" sz="1200" b="0" u="none" strike="noStrike">
              <a:solidFill>
                <a:srgbClr val="FFFFFF"/>
              </a:solidFill>
              <a:effectLst/>
              <a:uFillTx/>
              <a:latin typeface="Noto Sans"/>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720" y="-360"/>
            <a:ext cx="8820000" cy="863640"/>
          </a:xfrm>
          <a:prstGeom prst="rect">
            <a:avLst/>
          </a:prstGeom>
          <a:noFill/>
          <a:ln w="0">
            <a:noFill/>
          </a:ln>
        </p:spPr>
        <p:txBody>
          <a:bodyPr lIns="0" tIns="0" rIns="0" bIns="0" anchor="ctr">
            <a:noAutofit/>
          </a:bodyPr>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2200" b="1" u="none" strike="noStrike">
                <a:solidFill>
                  <a:srgbClr val="FFFFFF"/>
                </a:solidFill>
                <a:effectLst/>
                <a:uFillTx/>
                <a:latin typeface="Noto Sans"/>
              </a:rPr>
              <a:t>Код микросервисов — Вспомогательные микросервисы </a:t>
            </a:r>
            <a:endParaRPr lang="ru-RU" sz="2200" b="1" u="none" strike="noStrike">
              <a:solidFill>
                <a:srgbClr val="FFFFFF"/>
              </a:solidFill>
              <a:effectLst/>
              <a:uFillTx/>
              <a:latin typeface="Noto Sans"/>
            </a:endParaRPr>
          </a:p>
        </p:txBody>
      </p:sp>
      <p:sp>
        <p:nvSpPr>
          <p:cNvPr id="31" name="PlaceHolder 2"/>
          <p:cNvSpPr>
            <a:spLocks noGrp="1"/>
          </p:cNvSpPr>
          <p:nvPr>
            <p:ph/>
          </p:nvPr>
        </p:nvSpPr>
        <p:spPr>
          <a:xfrm>
            <a:off x="3833640" y="1692000"/>
            <a:ext cx="3420000" cy="648000"/>
          </a:xfrm>
          <a:prstGeom prst="rect">
            <a:avLst/>
          </a:prstGeom>
          <a:noFill/>
          <a:ln w="0">
            <a:noFill/>
          </a:ln>
        </p:spPr>
        <p:txBody>
          <a:bodyPr lIns="0" tIns="0" rIns="0" bIns="0" anchor="t">
            <a:normAutofit/>
          </a:bodyPr>
          <a:p>
            <a:pPr marL="431640" indent="-32364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DiscountService (порт 5002)</a:t>
            </a:r>
            <a:endParaRPr lang="ru-RU" sz="1800" b="0" u="none" strike="noStrike">
              <a:solidFill>
                <a:srgbClr val="FFFFFF"/>
              </a:solidFill>
              <a:effectLst/>
              <a:uFillTx/>
              <a:latin typeface="Noto Sans"/>
            </a:endParaRPr>
          </a:p>
        </p:txBody>
      </p:sp>
      <p:pic>
        <p:nvPicPr>
          <p:cNvPr id="32" name=""/>
          <p:cNvPicPr/>
          <p:nvPr/>
        </p:nvPicPr>
        <p:blipFill>
          <a:blip r:embed="rId1"/>
          <a:stretch/>
        </p:blipFill>
        <p:spPr>
          <a:xfrm>
            <a:off x="720720" y="3110040"/>
            <a:ext cx="3181320" cy="2288880"/>
          </a:xfrm>
          <a:prstGeom prst="rect">
            <a:avLst/>
          </a:prstGeom>
          <a:noFill/>
          <a:ln w="0">
            <a:noFill/>
          </a:ln>
        </p:spPr>
      </p:pic>
      <p:pic>
        <p:nvPicPr>
          <p:cNvPr id="33" name=""/>
          <p:cNvPicPr/>
          <p:nvPr/>
        </p:nvPicPr>
        <p:blipFill>
          <a:blip r:embed="rId2"/>
          <a:stretch/>
        </p:blipFill>
        <p:spPr>
          <a:xfrm>
            <a:off x="900000" y="720000"/>
            <a:ext cx="2933640" cy="2340000"/>
          </a:xfrm>
          <a:prstGeom prst="rect">
            <a:avLst/>
          </a:prstGeom>
          <a:noFill/>
          <a:ln w="0">
            <a:noFill/>
          </a:ln>
        </p:spPr>
      </p:pic>
      <p:sp>
        <p:nvSpPr>
          <p:cNvPr id="34" name=""/>
          <p:cNvSpPr/>
          <p:nvPr/>
        </p:nvSpPr>
        <p:spPr>
          <a:xfrm>
            <a:off x="3902040" y="3780000"/>
            <a:ext cx="3419640" cy="863640"/>
          </a:xfrm>
          <a:prstGeom prst="rect">
            <a:avLst/>
          </a:prstGeom>
          <a:noFill/>
          <a:ln w="0">
            <a:noFill/>
          </a:ln>
        </p:spPr>
        <p:style>
          <a:lnRef idx="0"/>
          <a:fillRef idx="0"/>
          <a:effectRef idx="0"/>
          <a:fontRef idx="minor"/>
        </p:style>
        <p:txBody>
          <a:bodyPr lIns="90000" tIns="45000" rIns="90000" bIns="45000" anchor="t">
            <a:noAutofit/>
          </a:bodyPr>
          <a:p>
            <a:pPr algn="ct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DeliveryService (порт 5003) — с SQLite</a:t>
            </a:r>
            <a:endParaRPr lang="ru-RU" sz="1800" b="0" u="none" strike="noStrike">
              <a:solidFill>
                <a:srgbClr val="FFFFFF"/>
              </a:solidFill>
              <a:effectLst/>
              <a:uFillTx/>
              <a:latin typeface="Noto Sans"/>
            </a:endParaRPr>
          </a:p>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ru-RU" sz="1200" b="0" u="none" strike="noStrike">
              <a:solidFill>
                <a:srgbClr val="FFFFFF"/>
              </a:solidFill>
              <a:effectLst/>
              <a:uFillTx/>
              <a:latin typeface="Noto Sans"/>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360" y="178920"/>
            <a:ext cx="6659640" cy="900360"/>
          </a:xfrm>
          <a:prstGeom prst="rect">
            <a:avLst/>
          </a:prstGeom>
          <a:noFill/>
          <a:ln w="0">
            <a:noFill/>
          </a:ln>
        </p:spPr>
        <p:txBody>
          <a:bodyPr lIns="0" tIns="0" rIns="0" bIns="0" anchor="ctr">
            <a:no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Результат работы</a:t>
            </a:r>
            <a:endParaRPr lang="ru-RU" sz="3200" b="1" u="none" strike="noStrike">
              <a:solidFill>
                <a:srgbClr val="FFFFFF"/>
              </a:solidFill>
              <a:effectLst/>
              <a:uFillTx/>
              <a:latin typeface="Noto Sans"/>
            </a:endParaRPr>
          </a:p>
        </p:txBody>
      </p:sp>
      <p:pic>
        <p:nvPicPr>
          <p:cNvPr id="36" name=""/>
          <p:cNvPicPr/>
          <p:nvPr/>
        </p:nvPicPr>
        <p:blipFill>
          <a:blip r:embed="rId1"/>
          <a:stretch/>
        </p:blipFill>
        <p:spPr>
          <a:xfrm>
            <a:off x="720360" y="975240"/>
            <a:ext cx="3453120" cy="4424760"/>
          </a:xfrm>
          <a:prstGeom prst="rect">
            <a:avLst/>
          </a:prstGeom>
          <a:noFill/>
          <a:ln w="0">
            <a:noFill/>
          </a:ln>
        </p:spPr>
      </p:pic>
      <p:pic>
        <p:nvPicPr>
          <p:cNvPr id="37" name=""/>
          <p:cNvPicPr/>
          <p:nvPr/>
        </p:nvPicPr>
        <p:blipFill>
          <a:blip r:embed="rId2"/>
          <a:stretch/>
        </p:blipFill>
        <p:spPr>
          <a:xfrm>
            <a:off x="5414400" y="975240"/>
            <a:ext cx="3405600" cy="4424760"/>
          </a:xfrm>
          <a:prstGeom prst="rect">
            <a:avLst/>
          </a:prstGeom>
          <a:noFill/>
          <a:ln w="0">
            <a:noFill/>
          </a:ln>
        </p:spPr>
      </p:pic>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0720" y="360000"/>
            <a:ext cx="5759280" cy="863640"/>
          </a:xfrm>
          <a:prstGeom prst="rect">
            <a:avLst/>
          </a:prstGeom>
          <a:noFill/>
          <a:ln w="0">
            <a:noFill/>
          </a:ln>
        </p:spPr>
        <p:txBody>
          <a:bodyPr lIns="0" tIns="0" rIns="0" bIns="0" anchor="ctr">
            <a:no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7200" b="1" u="none" strike="noStrike">
                <a:solidFill>
                  <a:srgbClr val="FFFFFF"/>
                </a:solidFill>
                <a:effectLst/>
                <a:uFillTx/>
                <a:latin typeface="Noto Sans"/>
              </a:rPr>
              <a:t>Вывод</a:t>
            </a:r>
            <a:endParaRPr lang="ru-RU" sz="7200" b="1" u="none" strike="noStrike">
              <a:solidFill>
                <a:srgbClr val="FFFFFF"/>
              </a:solidFill>
              <a:effectLst/>
              <a:uFillTx/>
              <a:latin typeface="Noto Sans"/>
            </a:endParaRPr>
          </a:p>
        </p:txBody>
      </p:sp>
      <p:sp>
        <p:nvSpPr>
          <p:cNvPr id="39" name="PlaceHolder 2"/>
          <p:cNvSpPr>
            <a:spLocks noGrp="1"/>
          </p:cNvSpPr>
          <p:nvPr>
            <p:ph/>
          </p:nvPr>
        </p:nvSpPr>
        <p:spPr>
          <a:xfrm>
            <a:off x="720000" y="1800000"/>
            <a:ext cx="7020720" cy="1260000"/>
          </a:xfrm>
          <a:prstGeom prst="rect">
            <a:avLst/>
          </a:prstGeom>
          <a:noFill/>
          <a:ln w="0">
            <a:noFill/>
          </a:ln>
        </p:spPr>
        <p:txBody>
          <a:bodyPr lIns="0" tIns="0" rIns="0" bIns="0" anchor="t">
            <a:normAutofit fontScale="85000" lnSpcReduction="9999"/>
          </a:bodyPr>
          <a:p>
            <a:pPr marL="431640" indent="-323640" algn="l">
              <a:lnSpc>
                <a:spcPct val="113000"/>
              </a:lnSpc>
              <a:spcBef>
                <a:spcPts val="1199"/>
              </a:spcBef>
              <a:spcAft>
                <a:spcPts val="100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2200" b="0" u="none" strike="noStrike">
                <a:solidFill>
                  <a:srgbClr val="FFFFFF"/>
                </a:solidFill>
                <a:effectLst/>
                <a:uFillTx/>
                <a:latin typeface="Noto Sans"/>
              </a:rPr>
              <a:t>Разработана и протестирована система микросервисов для расчёта стоимости модульных домов и бань. Все сервисы взаимодействуют через REST API, данные хранятся в SQLite. Система готова к эксплуатации. </a:t>
            </a:r>
            <a:endParaRPr lang="ru-RU" sz="2200" b="0" u="none" strike="noStrike">
              <a:solidFill>
                <a:srgbClr val="FFFFFF"/>
              </a:solidFill>
              <a:effectLst/>
              <a:uFillTx/>
              <a:latin typeface="Noto Sans"/>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540000" y="-720000"/>
            <a:ext cx="8639280" cy="2517840"/>
          </a:xfrm>
          <a:prstGeom prst="rect">
            <a:avLst/>
          </a:prstGeom>
          <a:noFill/>
          <a:ln w="0">
            <a:noFill/>
          </a:ln>
        </p:spPr>
        <p:txBody>
          <a:bodyPr lIns="0" tIns="0" rIns="0" bIns="0" anchor="ctr">
            <a:sp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7200" b="1" u="none" strike="noStrike">
                <a:solidFill>
                  <a:srgbClr val="FFFFFF"/>
                </a:solidFill>
                <a:effectLst/>
                <a:uFillTx/>
                <a:latin typeface="Noto Sans"/>
              </a:rPr>
              <a:t>Сайт портфолио</a:t>
            </a:r>
            <a:endParaRPr lang="ru-RU" sz="7200" b="1" u="none" strike="noStrike">
              <a:solidFill>
                <a:srgbClr val="FFFFFF"/>
              </a:solidFill>
              <a:effectLst/>
              <a:uFillTx/>
              <a:latin typeface="Noto Sans"/>
            </a:endParaRPr>
          </a:p>
        </p:txBody>
      </p:sp>
      <p:pic>
        <p:nvPicPr>
          <p:cNvPr id="41" name=""/>
          <p:cNvPicPr/>
          <p:nvPr/>
        </p:nvPicPr>
        <p:blipFill>
          <a:blip r:embed="rId1"/>
          <a:stretch/>
        </p:blipFill>
        <p:spPr>
          <a:xfrm>
            <a:off x="3240000" y="1440000"/>
            <a:ext cx="3600000" cy="3600000"/>
          </a:xfrm>
          <a:prstGeom prst="rect">
            <a:avLst/>
          </a:prstGeom>
          <a:noFill/>
          <a:ln w="0">
            <a:noFill/>
          </a:ln>
        </p:spPr>
      </p:pic>
    </p:spTree>
  </p:cSld>
  <p:transition>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2160000" y="1440720"/>
            <a:ext cx="5760000" cy="2519280"/>
          </a:xfrm>
          <a:prstGeom prst="rect">
            <a:avLst/>
          </a:prstGeom>
          <a:noFill/>
          <a:ln w="0">
            <a:noFill/>
          </a:ln>
        </p:spPr>
        <p:txBody>
          <a:bodyPr lIns="0" tIns="0" rIns="0" bIns="0" anchor="ctr">
            <a:noAutofit/>
          </a:bodyPr>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7200" b="1" u="none" strike="noStrike">
                <a:solidFill>
                  <a:srgbClr val="FFFFFF"/>
                </a:solidFill>
                <a:effectLst/>
                <a:uFillTx/>
                <a:latin typeface="Noto Sans"/>
              </a:rPr>
              <a:t>Спасибо за внимание!</a:t>
            </a:r>
            <a:endParaRPr lang="ru-RU" sz="7200" b="1" u="none" strike="noStrike">
              <a:solidFill>
                <a:srgbClr val="FFFFFF"/>
              </a:solidFill>
              <a:effectLst/>
              <a:uFillTx/>
              <a:latin typeface="Noto Sans"/>
            </a:endParaRPr>
          </a:p>
        </p:txBody>
      </p:sp>
    </p:spTree>
  </p:cSld>
  <p:transition>
    <p:fad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164</TotalTime>
  <Application>LibreOffice/26.2.4.2$Windows_X86_64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2026-07-01T18:29:13Z</dcterms:created>
  <dc:creator/>
  <dc:description>
               Freshes - LibreOffice Impress Template
                        by Risyad Rais
Freshes Template is supposed to be a template for LibreOffice
Impress. But I guess calling it a placeholder or sample slides might be even
more suitable since it's not really optimized properly for LibreOffice Impress
Workflow.
This template is made as an answer to Indonesian LibreOffice Community and
Gimpscape ID's call-to-arms to contribute to the 10th anniversary of
LibreOffice celebration.
##How to
###Normal slides
1. Duplicate the slide you want to edit
2. Edit the texts
3. Rearrange the slides and remove the ones you don't need
###Icons
To change icons, go to: "Insert -&gt; Special Character"
and choose the one you like.
###Chart slides
1. Double click the chart
2. Edit Data Table
##Features
1. A fresh looking first and last slide with huge typography
2. Covered single bullet to four bullets slides
3. Charts available in two styles: Collumns and Lines
4. A very mediocre looking Diagram and Table slide
5. Timeline slides
6. Super simple Closing slide
If you tried this and have any suggestions, feel free to send a mail: satmo54[at]gmail[dot]com
##Acknowledgements
Here's some resources I used to make this template:
###Images
Images used here are licensed under [Unsplash License](https://unsplash.com/license).
1. [White clouds and blue skies](https://unsplash.com/photos/DbwYNr8RPbg) by Resul on Unsplash.
2. [Four on flight hot air balloons](https://unsplash.com/photos/HcuKlhq4osM) by C.Valdez on Unsplash.
##License
This template is released under CC by SA 4.0 License. Other resources used in
this template have their own respective licenses you might want to check.
    </dc:description>
  <dc:language>ru-RU</dc:language>
  <cp:lastModifiedBy/>
  <dcterms:modified xsi:type="dcterms:W3CDTF">2026-07-02T16:41:45Z</dcterms:modified>
  <cp:revision>5</cp:revision>
  <dc:subject/>
  <dc:title>Freshes</dc:title>
</cp:coreProperties>
</file>