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7" r:id="rId3"/>
    <p:sldId id="257" r:id="rId4"/>
    <p:sldId id="258" r:id="rId5"/>
    <p:sldId id="259" r:id="rId6"/>
    <p:sldId id="260" r:id="rId7"/>
    <p:sldId id="261" r:id="rId8"/>
    <p:sldId id="262" r:id="rId9"/>
    <p:sldId id="263" r:id="rId10"/>
    <p:sldId id="264" r:id="rId11"/>
    <p:sldId id="265" r:id="rId12"/>
    <p:sldId id="266" r:id="rId13"/>
  </p:sldIdLst>
  <p:sldSz cx="10080625" cy="5670550"/>
  <p:notesSz cx="7559675" cy="10691813"/>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2" d="100"/>
          <a:sy n="142" d="100"/>
        </p:scale>
        <p:origin x="62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Обычный">
    <p:bg>
      <p:bgPr>
        <a:solidFill>
          <a:srgbClr val="FFFFFF"/>
        </a:solidFill>
        <a:effectLst/>
      </p:bgPr>
    </p:bg>
    <p:spTree>
      <p:nvGrpSpPr>
        <p:cNvPr id="1" name=""/>
        <p:cNvGrpSpPr/>
        <p:nvPr/>
      </p:nvGrpSpPr>
      <p:grpSpPr>
        <a:xfrm>
          <a:off x="0" y="0"/>
          <a:ext cx="0" cy="0"/>
          <a:chOff x="0" y="0"/>
          <a:chExt cx="0" cy="0"/>
        </a:xfrm>
      </p:grpSpPr>
      <p:pic>
        <p:nvPicPr>
          <p:cNvPr id="2" name="Рисунок 1"/>
          <p:cNvPicPr/>
          <p:nvPr/>
        </p:nvPicPr>
        <p:blipFill>
          <a:blip r:embed="rId2"/>
          <a:stretch/>
        </p:blipFill>
        <p:spPr>
          <a:xfrm>
            <a:off x="0" y="0"/>
            <a:ext cx="10080720" cy="5670720"/>
          </a:xfrm>
          <a:prstGeom prst="rect">
            <a:avLst/>
          </a:prstGeom>
          <a:noFill/>
          <a:ln w="0">
            <a:noFill/>
          </a:ln>
        </p:spPr>
      </p:pic>
      <p:sp>
        <p:nvSpPr>
          <p:cNvPr id="3" name="PlaceHolder 1"/>
          <p:cNvSpPr>
            <a:spLocks noGrp="1"/>
          </p:cNvSpPr>
          <p:nvPr>
            <p:ph type="title"/>
          </p:nvPr>
        </p:nvSpPr>
        <p:spPr>
          <a:xfrm>
            <a:off x="720720" y="576360"/>
            <a:ext cx="8639280" cy="2517840"/>
          </a:xfrm>
          <a:prstGeom prst="rect">
            <a:avLst/>
          </a:prstGeom>
          <a:noFill/>
          <a:ln w="0">
            <a:noFill/>
          </a:ln>
        </p:spPr>
        <p:txBody>
          <a:bodyPr lIns="0" tIns="0" rIns="0" bIns="0" anchor="ctr">
            <a:noAutofit/>
          </a:bodyPr>
          <a:lstStyle>
            <a:lvl1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7200" b="1" u="none" strike="noStrike">
                <a:solidFill>
                  <a:srgbClr val="FFFFFF"/>
                </a:solidFill>
                <a:effectLst/>
                <a:uFillTx/>
                <a:latin typeface="Noto Sans"/>
              </a:defRPr>
            </a:lvl1pPr>
          </a:lstStyle>
          <a:p>
            <a: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7200" b="1" u="none" strike="noStrike">
                <a:solidFill>
                  <a:srgbClr val="FFFFFF"/>
                </a:solidFill>
                <a:effectLst/>
                <a:uFillTx/>
                <a:latin typeface="Noto Sans"/>
              </a:rPr>
              <a:t>Для правки текста заглавия щёлкните мышью</a:t>
            </a:r>
          </a:p>
        </p:txBody>
      </p:sp>
      <p:sp>
        <p:nvSpPr>
          <p:cNvPr id="4" name="PlaceHolder 2"/>
          <p:cNvSpPr>
            <a:spLocks noGrp="1"/>
          </p:cNvSpPr>
          <p:nvPr>
            <p:ph type="body"/>
          </p:nvPr>
        </p:nvSpPr>
        <p:spPr>
          <a:xfrm>
            <a:off x="720360" y="3311640"/>
            <a:ext cx="6838920" cy="1977840"/>
          </a:xfrm>
          <a:prstGeom prst="rect">
            <a:avLst/>
          </a:prstGeom>
          <a:noFill/>
          <a:ln w="0">
            <a:noFill/>
          </a:ln>
        </p:spPr>
        <p:txBody>
          <a:bodyPr lIns="0" tIns="0" rIns="0" bIns="0" anchor="t">
            <a:normAutofit fontScale="32500" lnSpcReduction="19999"/>
          </a:bodyPr>
          <a:lstStyle>
            <a:lvl1pPr marL="343080" indent="-343080" algn="l">
              <a:lnSpc>
                <a:spcPct val="113000"/>
              </a:lnSpc>
              <a:spcBef>
                <a:spcPts val="1426"/>
              </a:spcBef>
              <a:spcAft>
                <a:spcPts val="1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1pPr>
            <a:lvl2pPr marL="343080" lvl="1"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2pPr>
            <a:lvl3pPr marL="343080" lvl="2"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3pPr>
            <a:lvl4pPr marL="343080" lvl="3"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4pPr>
            <a:lvl5pPr marL="343080" lvl="4"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5pPr>
            <a:lvl6pPr marL="343080" lvl="5"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6pPr>
            <a:lvl7pPr marL="343080" lvl="6"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7pPr>
          </a:lstStyle>
          <a:p>
            <a:pPr marL="343080" indent="-343080" algn="l">
              <a:lnSpc>
                <a:spcPct val="113000"/>
              </a:lnSpc>
              <a:spcBef>
                <a:spcPts val="1426"/>
              </a:spcBef>
              <a:spcAft>
                <a:spcPts val="1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Для правки структуры щёлкните мышью</a:t>
            </a:r>
          </a:p>
          <a:p>
            <a:pPr marL="343080" lvl="1"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Второй уровень структуры</a:t>
            </a:r>
          </a:p>
          <a:p>
            <a:pPr marL="343080" lvl="2"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Третий уровень структуры</a:t>
            </a:r>
          </a:p>
          <a:p>
            <a:pPr marL="343080" lvl="3"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Четвёртый уровень структуры</a:t>
            </a:r>
          </a:p>
          <a:p>
            <a:pPr marL="343080" lvl="4"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Пятый уровень структуры</a:t>
            </a:r>
          </a:p>
          <a:p>
            <a:pPr marL="343080" lvl="5"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Шестой уровень структуры</a:t>
            </a:r>
          </a:p>
          <a:p>
            <a:pPr marL="343080" lvl="6"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Седьмой уровень структуры</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Обычный">
    <p:bg>
      <p:bgPr>
        <a:solidFill>
          <a:srgbClr val="FFFFFF"/>
        </a:solidFill>
        <a:effectLst/>
      </p:bgPr>
    </p:bg>
    <p:spTree>
      <p:nvGrpSpPr>
        <p:cNvPr id="1" name=""/>
        <p:cNvGrpSpPr/>
        <p:nvPr/>
      </p:nvGrpSpPr>
      <p:grpSpPr>
        <a:xfrm>
          <a:off x="0" y="0"/>
          <a:ext cx="0" cy="0"/>
          <a:chOff x="0" y="0"/>
          <a:chExt cx="0" cy="0"/>
        </a:xfrm>
      </p:grpSpPr>
      <p:pic>
        <p:nvPicPr>
          <p:cNvPr id="5" name="Рисунок 4"/>
          <p:cNvPicPr/>
          <p:nvPr/>
        </p:nvPicPr>
        <p:blipFill>
          <a:blip r:embed="rId2"/>
          <a:stretch/>
        </p:blipFill>
        <p:spPr>
          <a:xfrm>
            <a:off x="0" y="0"/>
            <a:ext cx="10080720" cy="5670720"/>
          </a:xfrm>
          <a:prstGeom prst="rect">
            <a:avLst/>
          </a:prstGeom>
          <a:noFill/>
          <a:ln w="0">
            <a:noFill/>
          </a:ln>
        </p:spPr>
      </p:pic>
      <p:sp>
        <p:nvSpPr>
          <p:cNvPr id="6" name="PlaceHolder 1"/>
          <p:cNvSpPr>
            <a:spLocks noGrp="1"/>
          </p:cNvSpPr>
          <p:nvPr>
            <p:ph type="title"/>
          </p:nvPr>
        </p:nvSpPr>
        <p:spPr>
          <a:xfrm>
            <a:off x="720720" y="576360"/>
            <a:ext cx="8639280" cy="2517840"/>
          </a:xfrm>
          <a:prstGeom prst="rect">
            <a:avLst/>
          </a:prstGeom>
          <a:noFill/>
          <a:ln w="0">
            <a:noFill/>
          </a:ln>
        </p:spPr>
        <p:txBody>
          <a:bodyPr lIns="0" tIns="0" rIns="0" bIns="0" anchor="ctr">
            <a:noAutofit/>
          </a:bodyPr>
          <a:lstStyle>
            <a:lvl1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7200" b="1" u="none" strike="noStrike">
                <a:solidFill>
                  <a:srgbClr val="FFFFFF"/>
                </a:solidFill>
                <a:effectLst/>
                <a:uFillTx/>
                <a:latin typeface="Noto Sans"/>
              </a:defRPr>
            </a:lvl1pPr>
          </a:lstStyle>
          <a:p>
            <a: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7200" b="1" u="none" strike="noStrike">
                <a:solidFill>
                  <a:srgbClr val="FFFFFF"/>
                </a:solidFill>
                <a:effectLst/>
                <a:uFillTx/>
                <a:latin typeface="Noto Sans"/>
              </a:rPr>
              <a:t>Для правки текста заглавия щёлкните мышью</a:t>
            </a:r>
          </a:p>
        </p:txBody>
      </p:sp>
      <p:sp>
        <p:nvSpPr>
          <p:cNvPr id="7" name="PlaceHolder 2"/>
          <p:cNvSpPr>
            <a:spLocks noGrp="1"/>
          </p:cNvSpPr>
          <p:nvPr>
            <p:ph type="body"/>
          </p:nvPr>
        </p:nvSpPr>
        <p:spPr>
          <a:xfrm>
            <a:off x="720360" y="3311640"/>
            <a:ext cx="6838920" cy="1977840"/>
          </a:xfrm>
          <a:prstGeom prst="rect">
            <a:avLst/>
          </a:prstGeom>
          <a:noFill/>
          <a:ln w="0">
            <a:noFill/>
          </a:ln>
        </p:spPr>
        <p:txBody>
          <a:bodyPr lIns="0" tIns="0" rIns="0" bIns="0" anchor="t">
            <a:normAutofit fontScale="32500" lnSpcReduction="19999"/>
          </a:bodyPr>
          <a:lstStyle>
            <a:lvl1pPr marL="343080" indent="-343080" algn="l">
              <a:lnSpc>
                <a:spcPct val="113000"/>
              </a:lnSpc>
              <a:spcBef>
                <a:spcPts val="1426"/>
              </a:spcBef>
              <a:spcAft>
                <a:spcPts val="1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1pPr>
            <a:lvl2pPr marL="343080" lvl="1"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2pPr>
            <a:lvl3pPr marL="343080" lvl="2"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3pPr>
            <a:lvl4pPr marL="343080" lvl="3"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4pPr>
            <a:lvl5pPr marL="343080" lvl="4"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5pPr>
            <a:lvl6pPr marL="343080" lvl="5"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6pPr>
            <a:lvl7pPr marL="343080" lvl="6"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ru-RU" sz="3200" b="0" u="none" strike="noStrike">
                <a:solidFill>
                  <a:srgbClr val="FFFFFF"/>
                </a:solidFill>
                <a:effectLst/>
                <a:uFillTx/>
                <a:latin typeface="Noto Sans"/>
              </a:defRPr>
            </a:lvl7pPr>
          </a:lstStyle>
          <a:p>
            <a:pPr marL="343080" indent="-343080" algn="l">
              <a:lnSpc>
                <a:spcPct val="113000"/>
              </a:lnSpc>
              <a:spcBef>
                <a:spcPts val="1426"/>
              </a:spcBef>
              <a:spcAft>
                <a:spcPts val="1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Для правки структуры щёлкните мышью</a:t>
            </a:r>
          </a:p>
          <a:p>
            <a:pPr marL="343080" lvl="1"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Второй уровень структуры</a:t>
            </a:r>
          </a:p>
          <a:p>
            <a:pPr marL="343080" lvl="2"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Третий уровень структуры</a:t>
            </a:r>
          </a:p>
          <a:p>
            <a:pPr marL="343080" lvl="3"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Четвёртый уровень структуры</a:t>
            </a:r>
          </a:p>
          <a:p>
            <a:pPr marL="343080" lvl="4"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Пятый уровень структуры</a:t>
            </a:r>
          </a:p>
          <a:p>
            <a:pPr marL="343080" lvl="5"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Шестой уровень структуры</a:t>
            </a:r>
          </a:p>
          <a:p>
            <a:pPr marL="343080" lvl="6" indent="-343080" algn="l">
              <a:lnSpc>
                <a:spcPct val="113000"/>
              </a:lnSpc>
              <a:spcBef>
                <a:spcPts val="1426"/>
              </a:spcBef>
              <a:spcAft>
                <a:spcPts val="11"/>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3200" b="0" u="none" strike="noStrike">
                <a:solidFill>
                  <a:srgbClr val="FFFFFF"/>
                </a:solidFill>
                <a:effectLst/>
                <a:uFillTx/>
                <a:latin typeface="Noto Sans"/>
              </a:rPr>
              <a:t>Седьмой уровень структуры</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Прямая соединительная линия 7"/>
          <p:cNvSpPr/>
          <p:nvPr/>
        </p:nvSpPr>
        <p:spPr>
          <a:xfrm>
            <a:off x="720720" y="3203640"/>
            <a:ext cx="6624720" cy="1440"/>
          </a:xfrm>
          <a:prstGeom prst="line">
            <a:avLst/>
          </a:prstGeom>
          <a:ln w="36000" cap="rnd">
            <a:solidFill>
              <a:srgbClr val="FFFFFF"/>
            </a:solidFill>
            <a:round/>
          </a:ln>
        </p:spPr>
        <p:style>
          <a:lnRef idx="0">
            <a:scrgbClr r="0" g="0" b="0"/>
          </a:lnRef>
          <a:fillRef idx="0">
            <a:scrgbClr r="0" g="0" b="0"/>
          </a:fillRef>
          <a:effectRef idx="0">
            <a:scrgbClr r="0" g="0" b="0"/>
          </a:effectRef>
          <a:fontRef idx="minor"/>
        </p:style>
        <p:txBody>
          <a:bodyPr lIns="90000" tIns="-45360" rIns="90000" bIns="-45360" anchor="t">
            <a:noAutofit/>
          </a:bodyPr>
          <a:lstStyle/>
          <a:p>
            <a:pPr>
              <a:lnSpc>
                <a:spcPct val="113000"/>
              </a:lnSpc>
              <a:spcBef>
                <a:spcPts val="11"/>
              </a:spcBef>
              <a:spcAft>
                <a:spcPts val="1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ru-RU" sz="1800" b="0" u="none" strike="noStrike">
              <a:solidFill>
                <a:srgbClr val="FFFFFF"/>
              </a:solidFill>
              <a:effectLst/>
              <a:uFillTx/>
              <a:latin typeface="Noto Sans"/>
            </a:endParaRPr>
          </a:p>
        </p:txBody>
      </p:sp>
      <p:sp>
        <p:nvSpPr>
          <p:cNvPr id="9" name="PlaceHolder 1"/>
          <p:cNvSpPr>
            <a:spLocks noGrp="1"/>
          </p:cNvSpPr>
          <p:nvPr>
            <p:ph type="title"/>
          </p:nvPr>
        </p:nvSpPr>
        <p:spPr>
          <a:xfrm>
            <a:off x="720720" y="576360"/>
            <a:ext cx="8640720" cy="2519280"/>
          </a:xfrm>
          <a:prstGeom prst="rect">
            <a:avLst/>
          </a:prstGeom>
          <a:noFill/>
          <a:ln w="0">
            <a:noFill/>
          </a:ln>
        </p:spPr>
        <p:txBody>
          <a:bodyPr lIns="0" tIns="0" rIns="0" bIns="0" anchor="ctr">
            <a:noAutofit/>
          </a:bodyPr>
          <a:lstStyle/>
          <a:p>
            <a: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1" u="none" strike="noStrike">
                <a:solidFill>
                  <a:srgbClr val="FFFFFF"/>
                </a:solidFill>
                <a:effectLst/>
                <a:uFillTx/>
                <a:latin typeface="Noto Sans"/>
              </a:rPr>
              <a:t>Презентация-отчет по производственной практике</a:t>
            </a:r>
          </a:p>
        </p:txBody>
      </p:sp>
      <p:sp>
        <p:nvSpPr>
          <p:cNvPr id="10" name="PlaceHolder 2"/>
          <p:cNvSpPr>
            <a:spLocks noGrp="1"/>
          </p:cNvSpPr>
          <p:nvPr>
            <p:ph type="subTitle"/>
          </p:nvPr>
        </p:nvSpPr>
        <p:spPr>
          <a:xfrm>
            <a:off x="720720" y="3311640"/>
            <a:ext cx="6840720" cy="1800000"/>
          </a:xfrm>
          <a:prstGeom prst="rect">
            <a:avLst/>
          </a:prstGeom>
          <a:noFill/>
          <a:ln w="0">
            <a:noFill/>
          </a:ln>
        </p:spPr>
        <p:txBody>
          <a:bodyPr lIns="0" tIns="0" rIns="0" bIns="0" anchor="t">
            <a:noAutofit/>
          </a:bodyPr>
          <a:lstStyle/>
          <a:p>
            <a: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0" u="none" strike="noStrike">
                <a:solidFill>
                  <a:srgbClr val="FFFFFF"/>
                </a:solidFill>
                <a:effectLst/>
                <a:uFillTx/>
                <a:latin typeface="Noto Sans"/>
              </a:rPr>
              <a:t>Подготовил: Коньков Арсений</a:t>
            </a:r>
          </a:p>
          <a:p>
            <a:pPr indent="0" algn="l">
              <a:lnSpc>
                <a:spcPct val="130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0" u="none" strike="noStrike">
                <a:solidFill>
                  <a:srgbClr val="FFFFFF"/>
                </a:solidFill>
                <a:effectLst/>
                <a:uFillTx/>
                <a:latin typeface="Noto Sans"/>
              </a:rPr>
              <a:t>Группа: ПР-32</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3AD7FB-D7CC-4AA6-AECF-ACC2B6C07821}"/>
              </a:ext>
            </a:extLst>
          </p:cNvPr>
          <p:cNvSpPr>
            <a:spLocks noGrp="1"/>
          </p:cNvSpPr>
          <p:nvPr>
            <p:ph type="title"/>
          </p:nvPr>
        </p:nvSpPr>
        <p:spPr>
          <a:xfrm>
            <a:off x="720720" y="576360"/>
            <a:ext cx="7051680" cy="1451456"/>
          </a:xfrm>
        </p:spPr>
        <p:txBody>
          <a:bodyPr/>
          <a:lstStyle/>
          <a:p>
            <a:r>
              <a:rPr lang="ru-RU" dirty="0"/>
              <a:t>О компании</a:t>
            </a:r>
          </a:p>
        </p:txBody>
      </p:sp>
      <p:sp>
        <p:nvSpPr>
          <p:cNvPr id="3" name="Текст 2">
            <a:extLst>
              <a:ext uri="{FF2B5EF4-FFF2-40B4-BE49-F238E27FC236}">
                <a16:creationId xmlns:a16="http://schemas.microsoft.com/office/drawing/2014/main" id="{8F61A19A-DA65-420F-A137-13926C1023F4}"/>
              </a:ext>
            </a:extLst>
          </p:cNvPr>
          <p:cNvSpPr>
            <a:spLocks noGrp="1"/>
          </p:cNvSpPr>
          <p:nvPr>
            <p:ph type="body"/>
          </p:nvPr>
        </p:nvSpPr>
        <p:spPr>
          <a:xfrm>
            <a:off x="768769" y="2117542"/>
            <a:ext cx="6838920" cy="1977840"/>
          </a:xfrm>
        </p:spPr>
        <p:txBody>
          <a:bodyPr>
            <a:normAutofit fontScale="55000" lnSpcReduction="20000"/>
          </a:bodyPr>
          <a:lstStyle/>
          <a:p>
            <a:pPr marL="0" indent="0">
              <a:buNone/>
            </a:pPr>
            <a:r>
              <a:rPr lang="ru-RU" sz="4800" dirty="0"/>
              <a:t>Компания </a:t>
            </a:r>
            <a:r>
              <a:rPr lang="en-US" sz="4800" dirty="0" err="1"/>
              <a:t>Segmentdom</a:t>
            </a:r>
            <a:r>
              <a:rPr lang="en-US" sz="4800" dirty="0"/>
              <a:t> </a:t>
            </a:r>
            <a:r>
              <a:rPr lang="ru-RU" sz="4800" dirty="0"/>
              <a:t>специализируется на изготовлении и продажи модульных домов и бань из различных материалов собственной разработки</a:t>
            </a:r>
          </a:p>
        </p:txBody>
      </p:sp>
    </p:spTree>
    <p:extLst>
      <p:ext uri="{BB962C8B-B14F-4D97-AF65-F5344CB8AC3E}">
        <p14:creationId xmlns:p14="http://schemas.microsoft.com/office/powerpoint/2010/main" val="2962708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360000" y="180000"/>
            <a:ext cx="8640720" cy="720720"/>
          </a:xfrm>
          <a:prstGeom prst="rect">
            <a:avLst/>
          </a:prstGeom>
          <a:noFill/>
          <a:ln w="0">
            <a:noFill/>
          </a:ln>
        </p:spPr>
        <p:txBody>
          <a:bodyPr lIns="0" tIns="0" rIns="0" bIns="0" anchor="ctr">
            <a:noAutofit/>
          </a:bodyPr>
          <a:lstStyle/>
          <a:p>
            <a: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1" u="none" strike="noStrike">
                <a:solidFill>
                  <a:srgbClr val="FFFFFF"/>
                </a:solidFill>
                <a:effectLst/>
                <a:uFillTx/>
                <a:latin typeface="Noto Sans"/>
              </a:rPr>
              <a:t>Введение</a:t>
            </a:r>
          </a:p>
        </p:txBody>
      </p:sp>
      <p:sp>
        <p:nvSpPr>
          <p:cNvPr id="12" name="PlaceHolder 2"/>
          <p:cNvSpPr>
            <a:spLocks noGrp="1"/>
          </p:cNvSpPr>
          <p:nvPr>
            <p:ph/>
          </p:nvPr>
        </p:nvSpPr>
        <p:spPr>
          <a:xfrm>
            <a:off x="360000" y="1081080"/>
            <a:ext cx="5759640" cy="4140000"/>
          </a:xfrm>
          <a:prstGeom prst="rect">
            <a:avLst/>
          </a:prstGeom>
          <a:noFill/>
          <a:ln w="0">
            <a:noFill/>
          </a:ln>
        </p:spPr>
        <p:txBody>
          <a:bodyPr lIns="0" tIns="0" rIns="0" bIns="0" anchor="t">
            <a:normAutofit/>
          </a:bodyPr>
          <a:lstStyle/>
          <a:p>
            <a:pPr marL="431640" indent="-323640" algn="l">
              <a:lnSpc>
                <a:spcPct val="113000"/>
              </a:lnSpc>
              <a:spcBef>
                <a:spcPts val="1426"/>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0" u="none" strike="noStrike" dirty="0">
                <a:solidFill>
                  <a:srgbClr val="FFFFFF"/>
                </a:solidFill>
                <a:effectLst/>
                <a:uFillTx/>
                <a:latin typeface="Noto Sans"/>
              </a:rPr>
              <a:t>Цели:</a:t>
            </a:r>
          </a:p>
          <a:p>
            <a:pPr marL="431640" indent="-323640" algn="l">
              <a:lnSpc>
                <a:spcPct val="94000"/>
              </a:lnSpc>
              <a:spcBef>
                <a:spcPts val="1426"/>
              </a:spcBef>
              <a:spcAft>
                <a:spcPts val="11"/>
              </a:spcAft>
              <a:buClr>
                <a:srgbClr val="FFFFFF"/>
              </a:buClr>
              <a:buSzPct val="45000"/>
              <a:buFont typeface="Wingdings" charset="2"/>
              <a:buChar char=""/>
              <a:tabLst>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800" b="0" u="none" strike="noStrike" dirty="0">
                <a:solidFill>
                  <a:srgbClr val="FFFFFF"/>
                </a:solidFill>
                <a:effectLst/>
                <a:uFillTx/>
                <a:latin typeface="Noto Sans"/>
                <a:ea typeface="Liberation Mono;Courier New;Dej"/>
              </a:rPr>
              <a:t>Разработать 5 микросервисов</a:t>
            </a:r>
            <a:r>
              <a:rPr lang="en-US" sz="1800" b="0" u="none" strike="noStrike" dirty="0">
                <a:solidFill>
                  <a:srgbClr val="FFFFFF"/>
                </a:solidFill>
                <a:effectLst/>
                <a:uFillTx/>
                <a:latin typeface="Noto Sans"/>
                <a:ea typeface="Liberation Mono;Courier New;Dej"/>
              </a:rPr>
              <a:t> </a:t>
            </a:r>
            <a:r>
              <a:rPr lang="ru-RU" sz="1800" b="0" u="none" strike="noStrike" dirty="0">
                <a:solidFill>
                  <a:srgbClr val="FFFFFF"/>
                </a:solidFill>
                <a:effectLst/>
                <a:uFillTx/>
                <a:latin typeface="Noto Sans"/>
                <a:ea typeface="Liberation Mono;Courier New;Dej"/>
              </a:rPr>
              <a:t>на архитектуре </a:t>
            </a:r>
            <a:r>
              <a:rPr lang="en-US" sz="1800" b="0" u="none" strike="noStrike" dirty="0">
                <a:solidFill>
                  <a:srgbClr val="FFFFFF"/>
                </a:solidFill>
                <a:effectLst/>
                <a:uFillTx/>
                <a:latin typeface="Noto Sans"/>
                <a:ea typeface="Liberation Mono;Courier New;Dej"/>
              </a:rPr>
              <a:t>REST API,</a:t>
            </a:r>
            <a:r>
              <a:rPr lang="ru-RU" sz="1800" b="0" u="none" strike="noStrike" dirty="0">
                <a:solidFill>
                  <a:srgbClr val="FFFFFF"/>
                </a:solidFill>
                <a:effectLst/>
                <a:uFillTx/>
                <a:latin typeface="Noto Sans"/>
                <a:ea typeface="Liberation Mono;Courier New;Dej"/>
              </a:rPr>
              <a:t> для расчёта стоимости строительных объектов с интеграции базы данных </a:t>
            </a:r>
            <a:r>
              <a:rPr lang="en-US" sz="1800" b="0" u="none" strike="noStrike" dirty="0">
                <a:solidFill>
                  <a:srgbClr val="FFFFFF"/>
                </a:solidFill>
                <a:effectLst/>
                <a:uFillTx/>
                <a:latin typeface="Noto Sans"/>
                <a:ea typeface="Liberation Mono;Courier New;Dej"/>
              </a:rPr>
              <a:t>SQLite</a:t>
            </a:r>
            <a:endParaRPr lang="ru-RU" sz="1800" b="0" u="none" strike="noStrike" dirty="0">
              <a:solidFill>
                <a:srgbClr val="FFFFFF"/>
              </a:solidFill>
              <a:effectLst/>
              <a:uFillTx/>
              <a:latin typeface="Noto Sans"/>
            </a:endParaRPr>
          </a:p>
          <a:p>
            <a:pPr marL="431640" indent="-323640" algn="l">
              <a:lnSpc>
                <a:spcPct val="113000"/>
              </a:lnSpc>
              <a:spcBef>
                <a:spcPts val="1426"/>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0" u="none" strike="noStrike" dirty="0">
                <a:solidFill>
                  <a:srgbClr val="FFFFFF"/>
                </a:solidFill>
                <a:effectLst/>
                <a:uFillTx/>
                <a:latin typeface="Noto Sans"/>
                <a:ea typeface="Liberation Mono;Courier New;Dej"/>
              </a:rPr>
              <a:t>Задачи:</a:t>
            </a:r>
            <a:endParaRPr lang="ru-RU" sz="3200" b="0" u="none" strike="noStrike" dirty="0">
              <a:solidFill>
                <a:srgbClr val="FFFFFF"/>
              </a:solidFill>
              <a:effectLst/>
              <a:uFillTx/>
              <a:latin typeface="Noto Sans"/>
            </a:endParaRPr>
          </a:p>
          <a:p>
            <a:pPr marL="431640" indent="-323640" algn="l">
              <a:lnSpc>
                <a:spcPct val="94000"/>
              </a:lnSpc>
              <a:spcBef>
                <a:spcPts val="1426"/>
              </a:spcBef>
              <a:spcAft>
                <a:spcPts val="11"/>
              </a:spcAft>
              <a:buClr>
                <a:srgbClr val="FFFFFF"/>
              </a:buClr>
              <a:buSzPct val="45000"/>
              <a:buFont typeface="Wingdings" charset="2"/>
              <a:buChar char=""/>
              <a:tabLst>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800" b="0" u="none" strike="noStrike" dirty="0">
                <a:solidFill>
                  <a:srgbClr val="FFFFFF"/>
                </a:solidFill>
                <a:effectLst/>
                <a:uFillTx/>
                <a:latin typeface="Noto Sans"/>
                <a:ea typeface="Liberation Mono;Courier New;Dej"/>
              </a:rPr>
              <a:t>Изучить архитектуру микросервисов на платформе ASP.NET Core</a:t>
            </a:r>
            <a:endParaRPr lang="ru-RU" sz="1800" b="0" u="none" strike="noStrike" dirty="0">
              <a:solidFill>
                <a:srgbClr val="FFFFFF"/>
              </a:solidFill>
              <a:effectLst/>
              <a:uFillTx/>
              <a:latin typeface="Noto Sans"/>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360000" y="576000"/>
            <a:ext cx="8640720" cy="684000"/>
          </a:xfrm>
          <a:prstGeom prst="rect">
            <a:avLst/>
          </a:prstGeom>
          <a:noFill/>
          <a:ln w="0">
            <a:noFill/>
          </a:ln>
        </p:spPr>
        <p:txBody>
          <a:bodyPr lIns="0" tIns="0" rIns="0" bIns="0" anchor="ctr">
            <a:noAutofit/>
          </a:bodyPr>
          <a:lstStyle/>
          <a:p>
            <a: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1" u="none" strike="noStrike">
                <a:solidFill>
                  <a:srgbClr val="FFFFFF"/>
                </a:solidFill>
                <a:effectLst/>
                <a:uFillTx/>
                <a:latin typeface="Noto Sans"/>
              </a:rPr>
              <a:t>Используемые технологии</a:t>
            </a:r>
          </a:p>
        </p:txBody>
      </p:sp>
      <p:sp>
        <p:nvSpPr>
          <p:cNvPr id="14" name="PlaceHolder 2"/>
          <p:cNvSpPr>
            <a:spLocks noGrp="1"/>
          </p:cNvSpPr>
          <p:nvPr>
            <p:ph/>
          </p:nvPr>
        </p:nvSpPr>
        <p:spPr>
          <a:xfrm>
            <a:off x="360000" y="1800360"/>
            <a:ext cx="8999640" cy="1800000"/>
          </a:xfrm>
          <a:prstGeom prst="rect">
            <a:avLst/>
          </a:prstGeom>
          <a:noFill/>
          <a:ln w="0">
            <a:noFill/>
          </a:ln>
        </p:spPr>
        <p:txBody>
          <a:bodyPr lIns="0" tIns="10800" rIns="0" bIns="0" anchor="t">
            <a:normAutofit/>
          </a:bodyPr>
          <a:lstStyle/>
          <a:p>
            <a:pPr marL="431640" indent="-323640" algn="l">
              <a:lnSpc>
                <a:spcPct val="93000"/>
              </a:lnSpc>
              <a:spcBef>
                <a:spcPts val="1426"/>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200" b="0" u="none" strike="noStrike">
                <a:solidFill>
                  <a:srgbClr val="FFFFFF"/>
                </a:solidFill>
                <a:effectLst/>
                <a:uFillTx/>
                <a:latin typeface="Noto Sans"/>
                <a:ea typeface="Liberation Mono;Courier New;Dej"/>
              </a:rPr>
              <a:t>Среда разработки: Visual Studio 2022 </a:t>
            </a:r>
            <a:endParaRPr lang="ru-RU" sz="1200" b="0" u="none" strike="noStrike">
              <a:solidFill>
                <a:srgbClr val="FFFFFF"/>
              </a:solidFill>
              <a:effectLst/>
              <a:uFillTx/>
              <a:latin typeface="Noto Sans"/>
            </a:endParaRPr>
          </a:p>
          <a:p>
            <a:pPr marL="431640" indent="-323640" algn="l">
              <a:lnSpc>
                <a:spcPct val="93000"/>
              </a:lnSpc>
              <a:spcBef>
                <a:spcPts val="1426"/>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200" b="0" u="none" strike="noStrike">
                <a:solidFill>
                  <a:srgbClr val="FFFFFF"/>
                </a:solidFill>
                <a:effectLst/>
                <a:uFillTx/>
                <a:latin typeface="Noto Sans"/>
                <a:ea typeface="Liberation Mono;Courier New;Dej"/>
              </a:rPr>
              <a:t>Язык программирования: C# </a:t>
            </a:r>
            <a:endParaRPr lang="ru-RU" sz="1200" b="0" u="none" strike="noStrike">
              <a:solidFill>
                <a:srgbClr val="FFFFFF"/>
              </a:solidFill>
              <a:effectLst/>
              <a:uFillTx/>
              <a:latin typeface="Noto Sans"/>
            </a:endParaRPr>
          </a:p>
          <a:p>
            <a:pPr marL="431640" indent="-323640" algn="l">
              <a:lnSpc>
                <a:spcPct val="93000"/>
              </a:lnSpc>
              <a:spcBef>
                <a:spcPts val="1426"/>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200" b="0" u="none" strike="noStrike">
                <a:solidFill>
                  <a:srgbClr val="FFFFFF"/>
                </a:solidFill>
                <a:effectLst/>
                <a:uFillTx/>
                <a:latin typeface="Noto Sans"/>
                <a:ea typeface="Liberation Mono;Courier New;Dej"/>
              </a:rPr>
              <a:t>Фреймворки: ASP.NET Core Minimal API, Entity Framework Core </a:t>
            </a:r>
            <a:endParaRPr lang="ru-RU" sz="1200" b="0" u="none" strike="noStrike">
              <a:solidFill>
                <a:srgbClr val="FFFFFF"/>
              </a:solidFill>
              <a:effectLst/>
              <a:uFillTx/>
              <a:latin typeface="Noto Sans"/>
            </a:endParaRPr>
          </a:p>
          <a:p>
            <a:pPr marL="431640" indent="-323640" algn="l">
              <a:lnSpc>
                <a:spcPct val="93000"/>
              </a:lnSpc>
              <a:spcBef>
                <a:spcPts val="1426"/>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200" b="0" u="none" strike="noStrike">
                <a:solidFill>
                  <a:srgbClr val="FFFFFF"/>
                </a:solidFill>
                <a:effectLst/>
                <a:uFillTx/>
                <a:latin typeface="Noto Sans"/>
                <a:ea typeface="Liberation Mono;Courier New;Dej"/>
              </a:rPr>
              <a:t>База данных: SQLite </a:t>
            </a:r>
            <a:endParaRPr lang="ru-RU" sz="1200" b="0" u="none" strike="noStrike">
              <a:solidFill>
                <a:srgbClr val="FFFFFF"/>
              </a:solidFill>
              <a:effectLst/>
              <a:uFillTx/>
              <a:latin typeface="Noto Sans"/>
            </a:endParaRPr>
          </a:p>
        </p:txBody>
      </p:sp>
      <p:pic>
        <p:nvPicPr>
          <p:cNvPr id="15" name="Рисунок 14"/>
          <p:cNvPicPr/>
          <p:nvPr/>
        </p:nvPicPr>
        <p:blipFill>
          <a:blip r:embed="rId2"/>
          <a:stretch/>
        </p:blipFill>
        <p:spPr>
          <a:xfrm>
            <a:off x="7920000" y="1260360"/>
            <a:ext cx="1258920" cy="1417680"/>
          </a:xfrm>
          <a:prstGeom prst="rect">
            <a:avLst/>
          </a:prstGeom>
          <a:noFill/>
          <a:ln w="0">
            <a:noFill/>
          </a:ln>
        </p:spPr>
      </p:pic>
      <p:pic>
        <p:nvPicPr>
          <p:cNvPr id="16" name="Рисунок 15"/>
          <p:cNvPicPr/>
          <p:nvPr/>
        </p:nvPicPr>
        <p:blipFill>
          <a:blip r:embed="rId3"/>
          <a:stretch/>
        </p:blipFill>
        <p:spPr>
          <a:xfrm>
            <a:off x="7920000" y="3060720"/>
            <a:ext cx="1260360" cy="1260360"/>
          </a:xfrm>
          <a:prstGeom prst="rect">
            <a:avLst/>
          </a:prstGeom>
          <a:noFill/>
          <a:ln w="0">
            <a:noFill/>
          </a:ln>
        </p:spPr>
      </p:pic>
      <p:pic>
        <p:nvPicPr>
          <p:cNvPr id="17" name="Рисунок 16"/>
          <p:cNvPicPr/>
          <p:nvPr/>
        </p:nvPicPr>
        <p:blipFill>
          <a:blip r:embed="rId4"/>
          <a:stretch/>
        </p:blipFill>
        <p:spPr>
          <a:xfrm>
            <a:off x="4626000" y="2871720"/>
            <a:ext cx="2933640" cy="1629000"/>
          </a:xfrm>
          <a:prstGeom prst="rect">
            <a:avLst/>
          </a:prstGeom>
          <a:noFill/>
          <a:ln w="0">
            <a:noFill/>
          </a:ln>
        </p:spPr>
      </p:pic>
      <p:pic>
        <p:nvPicPr>
          <p:cNvPr id="18" name="Рисунок 17"/>
          <p:cNvPicPr/>
          <p:nvPr/>
        </p:nvPicPr>
        <p:blipFill>
          <a:blip r:embed="rId5"/>
          <a:stretch/>
        </p:blipFill>
        <p:spPr>
          <a:xfrm>
            <a:off x="5940360" y="1260360"/>
            <a:ext cx="1619280" cy="1619280"/>
          </a:xfrm>
          <a:prstGeom prst="rect">
            <a:avLst/>
          </a:prstGeom>
          <a:noFill/>
          <a:ln w="0">
            <a:noFill/>
          </a:ln>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720720" y="179640"/>
            <a:ext cx="8640720" cy="900360"/>
          </a:xfrm>
          <a:prstGeom prst="rect">
            <a:avLst/>
          </a:prstGeom>
          <a:noFill/>
          <a:ln w="0">
            <a:noFill/>
          </a:ln>
        </p:spPr>
        <p:txBody>
          <a:bodyPr lIns="0" tIns="0" rIns="0" bIns="0" anchor="ctr">
            <a:noAutofit/>
          </a:bodyPr>
          <a:lstStyle/>
          <a:p>
            <a:pPr indent="0" algn="l">
              <a:lnSpc>
                <a:spcPct val="113000"/>
              </a:lnSpc>
              <a:spcBef>
                <a:spcPts val="1199"/>
              </a:spcBef>
              <a:spcAft>
                <a:spcPts val="100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1" u="none" strike="noStrike">
                <a:solidFill>
                  <a:srgbClr val="FFFFFF"/>
                </a:solidFill>
                <a:effectLst/>
                <a:uFillTx/>
                <a:latin typeface="Noto Sans"/>
              </a:rPr>
              <a:t>Архитектура системы</a:t>
            </a:r>
            <a:br>
              <a:rPr sz="3200"/>
            </a:br>
            <a:endParaRPr lang="ru-RU" sz="3200" b="1" u="none" strike="noStrike">
              <a:solidFill>
                <a:srgbClr val="FFFFFF"/>
              </a:solidFill>
              <a:effectLst/>
              <a:uFillTx/>
              <a:latin typeface="Noto Sans"/>
            </a:endParaRPr>
          </a:p>
        </p:txBody>
      </p:sp>
      <p:pic>
        <p:nvPicPr>
          <p:cNvPr id="20" name="Рисунок 19"/>
          <p:cNvPicPr/>
          <p:nvPr/>
        </p:nvPicPr>
        <p:blipFill>
          <a:blip r:embed="rId2"/>
          <a:stretch/>
        </p:blipFill>
        <p:spPr>
          <a:xfrm>
            <a:off x="2880000" y="874440"/>
            <a:ext cx="4680000" cy="4345560"/>
          </a:xfrm>
          <a:prstGeom prst="rect">
            <a:avLst/>
          </a:prstGeom>
          <a:noFill/>
          <a:ln w="0">
            <a:noFill/>
          </a:ln>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540000" y="360000"/>
            <a:ext cx="8640720" cy="503280"/>
          </a:xfrm>
          <a:prstGeom prst="rect">
            <a:avLst/>
          </a:prstGeom>
          <a:noFill/>
          <a:ln w="0">
            <a:noFill/>
          </a:ln>
        </p:spPr>
        <p:txBody>
          <a:bodyPr lIns="0" tIns="0" rIns="0" bIns="0" anchor="ctr">
            <a:noAutofit/>
          </a:bodyPr>
          <a:lstStyle/>
          <a:p>
            <a:pPr indent="0" algn="l">
              <a:lnSpc>
                <a:spcPct val="113000"/>
              </a:lnSpc>
              <a:spcBef>
                <a:spcPts val="1199"/>
              </a:spcBef>
              <a:spcAft>
                <a:spcPts val="100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1" u="none" strike="noStrike" dirty="0">
                <a:solidFill>
                  <a:srgbClr val="FFFFFF"/>
                </a:solidFill>
                <a:effectLst/>
                <a:uFillTx/>
                <a:latin typeface="Noto Sans"/>
              </a:rPr>
              <a:t>Код микросервисов — Главный</a:t>
            </a:r>
            <a:br>
              <a:rPr sz="1600" dirty="0"/>
            </a:br>
            <a:endParaRPr lang="ru-RU" sz="3200" b="1" u="none" strike="noStrike" dirty="0">
              <a:solidFill>
                <a:srgbClr val="FFFFFF"/>
              </a:solidFill>
              <a:effectLst/>
              <a:uFillTx/>
              <a:latin typeface="Noto Sans"/>
            </a:endParaRPr>
          </a:p>
        </p:txBody>
      </p:sp>
      <p:pic>
        <p:nvPicPr>
          <p:cNvPr id="22" name="Рисунок 21"/>
          <p:cNvPicPr/>
          <p:nvPr/>
        </p:nvPicPr>
        <p:blipFill>
          <a:blip r:embed="rId2"/>
          <a:stretch/>
        </p:blipFill>
        <p:spPr>
          <a:xfrm>
            <a:off x="2320920" y="858960"/>
            <a:ext cx="4699080" cy="3959280"/>
          </a:xfrm>
          <a:prstGeom prst="rect">
            <a:avLst/>
          </a:prstGeom>
          <a:noFill/>
          <a:ln w="0">
            <a:noFill/>
          </a:ln>
        </p:spPr>
      </p:pic>
      <p:sp>
        <p:nvSpPr>
          <p:cNvPr id="23" name="Прямоугольник 22"/>
          <p:cNvSpPr/>
          <p:nvPr/>
        </p:nvSpPr>
        <p:spPr>
          <a:xfrm>
            <a:off x="8099280" y="2700360"/>
            <a:ext cx="1079640" cy="1079640"/>
          </a:xfrm>
          <a:prstGeom prst="rect">
            <a:avLst/>
          </a:prstGeom>
          <a:noFill/>
          <a:ln w="0">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nSpc>
                <a:spcPct val="113000"/>
              </a:lnSpc>
              <a:spcBef>
                <a:spcPts val="11"/>
              </a:spcBef>
              <a:spcAft>
                <a:spcPts val="1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ru-RU" sz="1800" b="0" u="none" strike="noStrike">
              <a:solidFill>
                <a:srgbClr val="FFFFFF"/>
              </a:solidFill>
              <a:effectLst/>
              <a:uFillTx/>
              <a:latin typeface="Noto Sans"/>
            </a:endParaRPr>
          </a:p>
        </p:txBody>
      </p:sp>
      <p:sp>
        <p:nvSpPr>
          <p:cNvPr id="24" name="Прямоугольник 23"/>
          <p:cNvSpPr/>
          <p:nvPr/>
        </p:nvSpPr>
        <p:spPr>
          <a:xfrm>
            <a:off x="2339640" y="4860000"/>
            <a:ext cx="4860360" cy="401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13000"/>
              </a:lnSpc>
              <a:spcBef>
                <a:spcPts val="1199"/>
              </a:spcBef>
              <a:spcAft>
                <a:spcPts val="100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800" b="1" u="none" strike="noStrike">
                <a:solidFill>
                  <a:srgbClr val="FFFFFF"/>
                </a:solidFill>
                <a:effectLst/>
                <a:uFillTx/>
                <a:latin typeface="Noto Sans"/>
              </a:rPr>
              <a:t>MainService (порт 5000) — API Gateway</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720720" y="216000"/>
            <a:ext cx="8640720" cy="503280"/>
          </a:xfrm>
          <a:prstGeom prst="rect">
            <a:avLst/>
          </a:prstGeom>
          <a:noFill/>
          <a:ln w="0">
            <a:noFill/>
          </a:ln>
        </p:spPr>
        <p:txBody>
          <a:bodyPr lIns="0" tIns="0" rIns="0" bIns="0" anchor="ctr">
            <a:noAutofit/>
          </a:bodyPr>
          <a:lstStyle/>
          <a:p>
            <a:pPr indent="0" algn="l">
              <a:lnSpc>
                <a:spcPct val="113000"/>
              </a:lnSpc>
              <a:spcBef>
                <a:spcPts val="1199"/>
              </a:spcBef>
              <a:spcAft>
                <a:spcPts val="100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1" u="none" strike="noStrike" dirty="0">
                <a:solidFill>
                  <a:srgbClr val="FFFFFF"/>
                </a:solidFill>
                <a:effectLst/>
                <a:uFillTx/>
                <a:latin typeface="Noto Sans"/>
              </a:rPr>
              <a:t>Код микросервисов — Вспомогательные </a:t>
            </a:r>
            <a:r>
              <a:rPr lang="ru-RU" sz="3200" b="1" u="none" strike="noStrike" dirty="0" err="1">
                <a:solidFill>
                  <a:srgbClr val="FFFFFF"/>
                </a:solidFill>
                <a:effectLst/>
                <a:uFillTx/>
                <a:latin typeface="Noto Sans"/>
              </a:rPr>
              <a:t>микросервисы</a:t>
            </a:r>
            <a:r>
              <a:rPr lang="ru-RU" sz="3200" b="1" u="none" strike="noStrike" dirty="0">
                <a:solidFill>
                  <a:srgbClr val="FFFFFF"/>
                </a:solidFill>
                <a:effectLst/>
                <a:uFillTx/>
                <a:latin typeface="Noto Sans"/>
              </a:rPr>
              <a:t> </a:t>
            </a:r>
          </a:p>
        </p:txBody>
      </p:sp>
      <p:sp>
        <p:nvSpPr>
          <p:cNvPr id="26" name="PlaceHolder 2"/>
          <p:cNvSpPr>
            <a:spLocks noGrp="1"/>
          </p:cNvSpPr>
          <p:nvPr>
            <p:ph/>
          </p:nvPr>
        </p:nvSpPr>
        <p:spPr>
          <a:xfrm>
            <a:off x="4859280" y="1259640"/>
            <a:ext cx="3060720" cy="360360"/>
          </a:xfrm>
          <a:prstGeom prst="rect">
            <a:avLst/>
          </a:prstGeom>
          <a:noFill/>
          <a:ln w="0">
            <a:noFill/>
          </a:ln>
        </p:spPr>
        <p:txBody>
          <a:bodyPr lIns="0" tIns="0" rIns="0" bIns="0" anchor="t">
            <a:normAutofit/>
          </a:bodyPr>
          <a:lstStyle/>
          <a:p>
            <a:pPr marL="431640" indent="-323640" algn="l">
              <a:lnSpc>
                <a:spcPct val="113000"/>
              </a:lnSpc>
              <a:spcBef>
                <a:spcPts val="1199"/>
              </a:spcBef>
              <a:spcAft>
                <a:spcPts val="100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800" b="1" u="none" strike="noStrike">
                <a:solidFill>
                  <a:srgbClr val="FFFFFF"/>
                </a:solidFill>
                <a:effectLst/>
                <a:uFillTx/>
                <a:latin typeface="Noto Sans"/>
              </a:rPr>
              <a:t>BonusService (порт 5004)</a:t>
            </a:r>
            <a:endParaRPr lang="ru-RU" sz="1800" b="0" u="none" strike="noStrike">
              <a:solidFill>
                <a:srgbClr val="FFFFFF"/>
              </a:solidFill>
              <a:effectLst/>
              <a:uFillTx/>
              <a:latin typeface="Noto Sans"/>
            </a:endParaRPr>
          </a:p>
        </p:txBody>
      </p:sp>
      <p:pic>
        <p:nvPicPr>
          <p:cNvPr id="27" name="Рисунок 26"/>
          <p:cNvPicPr/>
          <p:nvPr/>
        </p:nvPicPr>
        <p:blipFill>
          <a:blip r:embed="rId2"/>
          <a:stretch/>
        </p:blipFill>
        <p:spPr>
          <a:xfrm>
            <a:off x="739800" y="1123560"/>
            <a:ext cx="3940200" cy="1936440"/>
          </a:xfrm>
          <a:prstGeom prst="rect">
            <a:avLst/>
          </a:prstGeom>
          <a:noFill/>
          <a:ln w="0">
            <a:noFill/>
          </a:ln>
        </p:spPr>
      </p:pic>
      <p:pic>
        <p:nvPicPr>
          <p:cNvPr id="28" name="Рисунок 27"/>
          <p:cNvPicPr/>
          <p:nvPr/>
        </p:nvPicPr>
        <p:blipFill>
          <a:blip r:embed="rId3"/>
          <a:stretch/>
        </p:blipFill>
        <p:spPr>
          <a:xfrm>
            <a:off x="807480" y="3240000"/>
            <a:ext cx="3692520" cy="2290680"/>
          </a:xfrm>
          <a:prstGeom prst="rect">
            <a:avLst/>
          </a:prstGeom>
          <a:noFill/>
          <a:ln w="0">
            <a:noFill/>
          </a:ln>
        </p:spPr>
      </p:pic>
      <p:sp>
        <p:nvSpPr>
          <p:cNvPr id="29" name="Прямоугольник 28"/>
          <p:cNvSpPr/>
          <p:nvPr/>
        </p:nvSpPr>
        <p:spPr>
          <a:xfrm>
            <a:off x="4926240" y="3420000"/>
            <a:ext cx="2993760" cy="65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13000"/>
              </a:lnSpc>
              <a:spcBef>
                <a:spcPts val="1199"/>
              </a:spcBef>
              <a:spcAft>
                <a:spcPts val="100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800" b="1" u="none" strike="noStrike">
                <a:solidFill>
                  <a:srgbClr val="FFFFFF"/>
                </a:solidFill>
                <a:effectLst/>
                <a:uFillTx/>
                <a:latin typeface="Noto Sans"/>
              </a:rPr>
              <a:t>PriceService (порт 5001)</a:t>
            </a:r>
            <a:endParaRPr lang="ru-RU" sz="1800" b="0" u="none" strike="noStrike">
              <a:solidFill>
                <a:srgbClr val="FFFFFF"/>
              </a:solidFill>
              <a:effectLst/>
              <a:uFillTx/>
              <a:latin typeface="Noto Sans"/>
            </a:endParaRPr>
          </a:p>
          <a:p>
            <a:pPr>
              <a:lnSpc>
                <a:spcPct val="113000"/>
              </a:lnSpc>
              <a:spcBef>
                <a:spcPts val="1199"/>
              </a:spcBef>
              <a:spcAft>
                <a:spcPts val="100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ru-RU" sz="1200" b="0" u="none" strike="noStrike">
              <a:solidFill>
                <a:srgbClr val="FFFFFF"/>
              </a:solidFill>
              <a:effectLst/>
              <a:uFillTx/>
              <a:latin typeface="Noto Sans"/>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720720" y="-360"/>
            <a:ext cx="8820000" cy="863640"/>
          </a:xfrm>
          <a:prstGeom prst="rect">
            <a:avLst/>
          </a:prstGeom>
          <a:noFill/>
          <a:ln w="0">
            <a:noFill/>
          </a:ln>
        </p:spPr>
        <p:txBody>
          <a:bodyPr lIns="0" tIns="0" rIns="0" bIns="0" anchor="ctr">
            <a:noAutofit/>
          </a:bodyPr>
          <a:lstStyle/>
          <a:p>
            <a:pPr indent="0" algn="l">
              <a:lnSpc>
                <a:spcPct val="113000"/>
              </a:lnSpc>
              <a:spcBef>
                <a:spcPts val="1199"/>
              </a:spcBef>
              <a:spcAft>
                <a:spcPts val="100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2200" b="1" u="none" strike="noStrike" dirty="0">
                <a:solidFill>
                  <a:srgbClr val="FFFFFF"/>
                </a:solidFill>
                <a:effectLst/>
                <a:uFillTx/>
                <a:latin typeface="Noto Sans"/>
              </a:rPr>
              <a:t>Код микросервисов — Вспомогательные </a:t>
            </a:r>
            <a:r>
              <a:rPr lang="ru-RU" sz="2200" b="1" u="none" strike="noStrike" dirty="0" err="1">
                <a:solidFill>
                  <a:srgbClr val="FFFFFF"/>
                </a:solidFill>
                <a:effectLst/>
                <a:uFillTx/>
                <a:latin typeface="Noto Sans"/>
              </a:rPr>
              <a:t>микросервисы</a:t>
            </a:r>
            <a:r>
              <a:rPr lang="ru-RU" sz="2200" b="1" u="none" strike="noStrike" dirty="0">
                <a:solidFill>
                  <a:srgbClr val="FFFFFF"/>
                </a:solidFill>
                <a:effectLst/>
                <a:uFillTx/>
                <a:latin typeface="Noto Sans"/>
              </a:rPr>
              <a:t> </a:t>
            </a:r>
          </a:p>
        </p:txBody>
      </p:sp>
      <p:sp>
        <p:nvSpPr>
          <p:cNvPr id="31" name="PlaceHolder 2"/>
          <p:cNvSpPr>
            <a:spLocks noGrp="1"/>
          </p:cNvSpPr>
          <p:nvPr>
            <p:ph/>
          </p:nvPr>
        </p:nvSpPr>
        <p:spPr>
          <a:xfrm>
            <a:off x="3833640" y="1692000"/>
            <a:ext cx="3420000" cy="648000"/>
          </a:xfrm>
          <a:prstGeom prst="rect">
            <a:avLst/>
          </a:prstGeom>
          <a:noFill/>
          <a:ln w="0">
            <a:noFill/>
          </a:ln>
        </p:spPr>
        <p:txBody>
          <a:bodyPr lIns="0" tIns="0" rIns="0" bIns="0" anchor="t">
            <a:normAutofit/>
          </a:bodyPr>
          <a:lstStyle/>
          <a:p>
            <a:pPr marL="431640" indent="-323640" algn="l">
              <a:lnSpc>
                <a:spcPct val="113000"/>
              </a:lnSpc>
              <a:spcBef>
                <a:spcPts val="1199"/>
              </a:spcBef>
              <a:spcAft>
                <a:spcPts val="100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800" b="1" u="none" strike="noStrike">
                <a:solidFill>
                  <a:srgbClr val="FFFFFF"/>
                </a:solidFill>
                <a:effectLst/>
                <a:uFillTx/>
                <a:latin typeface="Noto Sans"/>
              </a:rPr>
              <a:t>DiscountService (порт 5002)</a:t>
            </a:r>
            <a:endParaRPr lang="ru-RU" sz="1800" b="0" u="none" strike="noStrike">
              <a:solidFill>
                <a:srgbClr val="FFFFFF"/>
              </a:solidFill>
              <a:effectLst/>
              <a:uFillTx/>
              <a:latin typeface="Noto Sans"/>
            </a:endParaRPr>
          </a:p>
        </p:txBody>
      </p:sp>
      <p:pic>
        <p:nvPicPr>
          <p:cNvPr id="32" name="Рисунок 31"/>
          <p:cNvPicPr/>
          <p:nvPr/>
        </p:nvPicPr>
        <p:blipFill>
          <a:blip r:embed="rId2"/>
          <a:stretch/>
        </p:blipFill>
        <p:spPr>
          <a:xfrm>
            <a:off x="720720" y="3110040"/>
            <a:ext cx="3181320" cy="2288880"/>
          </a:xfrm>
          <a:prstGeom prst="rect">
            <a:avLst/>
          </a:prstGeom>
          <a:noFill/>
          <a:ln w="0">
            <a:noFill/>
          </a:ln>
        </p:spPr>
      </p:pic>
      <p:pic>
        <p:nvPicPr>
          <p:cNvPr id="33" name="Рисунок 32"/>
          <p:cNvPicPr/>
          <p:nvPr/>
        </p:nvPicPr>
        <p:blipFill>
          <a:blip r:embed="rId3"/>
          <a:stretch/>
        </p:blipFill>
        <p:spPr>
          <a:xfrm>
            <a:off x="900000" y="720000"/>
            <a:ext cx="2933640" cy="2340000"/>
          </a:xfrm>
          <a:prstGeom prst="rect">
            <a:avLst/>
          </a:prstGeom>
          <a:noFill/>
          <a:ln w="0">
            <a:noFill/>
          </a:ln>
        </p:spPr>
      </p:pic>
      <p:sp>
        <p:nvSpPr>
          <p:cNvPr id="34" name="Прямоугольник 33"/>
          <p:cNvSpPr/>
          <p:nvPr/>
        </p:nvSpPr>
        <p:spPr>
          <a:xfrm>
            <a:off x="3902040" y="3780000"/>
            <a:ext cx="3419640" cy="86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13000"/>
              </a:lnSpc>
              <a:spcBef>
                <a:spcPts val="1199"/>
              </a:spcBef>
              <a:spcAft>
                <a:spcPts val="100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1800" b="1" u="none" strike="noStrike">
                <a:solidFill>
                  <a:srgbClr val="FFFFFF"/>
                </a:solidFill>
                <a:effectLst/>
                <a:uFillTx/>
                <a:latin typeface="Noto Sans"/>
              </a:rPr>
              <a:t>DeliveryService (порт 5003) — с SQLite</a:t>
            </a:r>
            <a:endParaRPr lang="ru-RU" sz="1800" b="0" u="none" strike="noStrike">
              <a:solidFill>
                <a:srgbClr val="FFFFFF"/>
              </a:solidFill>
              <a:effectLst/>
              <a:uFillTx/>
              <a:latin typeface="Noto Sans"/>
            </a:endParaRPr>
          </a:p>
          <a:p>
            <a:pPr>
              <a:lnSpc>
                <a:spcPct val="113000"/>
              </a:lnSpc>
              <a:spcBef>
                <a:spcPts val="1199"/>
              </a:spcBef>
              <a:spcAft>
                <a:spcPts val="1001"/>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endParaRPr lang="ru-RU" sz="1200" b="0" u="none" strike="noStrike">
              <a:solidFill>
                <a:srgbClr val="FFFFFF"/>
              </a:solidFill>
              <a:effectLst/>
              <a:uFillTx/>
              <a:latin typeface="Noto Sans"/>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720360" y="178920"/>
            <a:ext cx="6659640" cy="900360"/>
          </a:xfrm>
          <a:prstGeom prst="rect">
            <a:avLst/>
          </a:prstGeom>
          <a:noFill/>
          <a:ln w="0">
            <a:noFill/>
          </a:ln>
        </p:spPr>
        <p:txBody>
          <a:bodyPr lIns="0" tIns="0" rIns="0" bIns="0" anchor="ctr">
            <a:noAutofit/>
          </a:bodyPr>
          <a:lstStyle/>
          <a:p>
            <a: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3200" b="1" u="none" strike="noStrike">
                <a:solidFill>
                  <a:srgbClr val="FFFFFF"/>
                </a:solidFill>
                <a:effectLst/>
                <a:uFillTx/>
                <a:latin typeface="Noto Sans"/>
              </a:rPr>
              <a:t>Результат работы</a:t>
            </a:r>
          </a:p>
        </p:txBody>
      </p:sp>
      <p:pic>
        <p:nvPicPr>
          <p:cNvPr id="36" name="Рисунок 35"/>
          <p:cNvPicPr/>
          <p:nvPr/>
        </p:nvPicPr>
        <p:blipFill>
          <a:blip r:embed="rId2"/>
          <a:stretch/>
        </p:blipFill>
        <p:spPr>
          <a:xfrm>
            <a:off x="720360" y="975240"/>
            <a:ext cx="3453120" cy="4424760"/>
          </a:xfrm>
          <a:prstGeom prst="rect">
            <a:avLst/>
          </a:prstGeom>
          <a:noFill/>
          <a:ln w="0">
            <a:noFill/>
          </a:ln>
        </p:spPr>
      </p:pic>
      <p:pic>
        <p:nvPicPr>
          <p:cNvPr id="37" name="Рисунок 36"/>
          <p:cNvPicPr/>
          <p:nvPr/>
        </p:nvPicPr>
        <p:blipFill>
          <a:blip r:embed="rId3"/>
          <a:stretch/>
        </p:blipFill>
        <p:spPr>
          <a:xfrm>
            <a:off x="5414400" y="975240"/>
            <a:ext cx="3405600" cy="4424760"/>
          </a:xfrm>
          <a:prstGeom prst="rect">
            <a:avLst/>
          </a:prstGeom>
          <a:noFill/>
          <a:ln w="0">
            <a:noFill/>
          </a:ln>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720720" y="360000"/>
            <a:ext cx="5759280" cy="863640"/>
          </a:xfrm>
          <a:prstGeom prst="rect">
            <a:avLst/>
          </a:prstGeom>
          <a:noFill/>
          <a:ln w="0">
            <a:noFill/>
          </a:ln>
        </p:spPr>
        <p:txBody>
          <a:bodyPr lIns="0" tIns="0" rIns="0" bIns="0" anchor="ctr">
            <a:noAutofit/>
          </a:bodyPr>
          <a:lstStyle/>
          <a:p>
            <a: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7200" b="1" u="none" strike="noStrike">
                <a:solidFill>
                  <a:srgbClr val="FFFFFF"/>
                </a:solidFill>
                <a:effectLst/>
                <a:uFillTx/>
                <a:latin typeface="Noto Sans"/>
              </a:rPr>
              <a:t>Вывод</a:t>
            </a:r>
          </a:p>
        </p:txBody>
      </p:sp>
      <p:sp>
        <p:nvSpPr>
          <p:cNvPr id="39" name="PlaceHolder 2"/>
          <p:cNvSpPr>
            <a:spLocks noGrp="1"/>
          </p:cNvSpPr>
          <p:nvPr>
            <p:ph/>
          </p:nvPr>
        </p:nvSpPr>
        <p:spPr>
          <a:xfrm>
            <a:off x="720000" y="1800000"/>
            <a:ext cx="7020720" cy="1260000"/>
          </a:xfrm>
          <a:prstGeom prst="rect">
            <a:avLst/>
          </a:prstGeom>
          <a:noFill/>
          <a:ln w="0">
            <a:noFill/>
          </a:ln>
        </p:spPr>
        <p:txBody>
          <a:bodyPr lIns="0" tIns="0" rIns="0" bIns="0" anchor="t">
            <a:normAutofit fontScale="77500" lnSpcReduction="20000"/>
          </a:bodyPr>
          <a:lstStyle/>
          <a:p>
            <a:pPr marL="431640" indent="-323640" algn="l">
              <a:lnSpc>
                <a:spcPct val="113000"/>
              </a:lnSpc>
              <a:spcBef>
                <a:spcPts val="1199"/>
              </a:spcBef>
              <a:spcAft>
                <a:spcPts val="1001"/>
              </a:spcAft>
              <a:buClr>
                <a:srgbClr val="FFFFFF"/>
              </a:buClr>
              <a:buSzPct val="45000"/>
              <a:buFont typeface="Wingdings" charset="2"/>
              <a:buChar char=""/>
              <a:tabLst>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2200" b="0" u="none" strike="noStrike" dirty="0">
                <a:solidFill>
                  <a:srgbClr val="FFFFFF"/>
                </a:solidFill>
                <a:effectLst/>
                <a:uFillTx/>
                <a:latin typeface="Noto Sans"/>
              </a:rPr>
              <a:t>Разработана и протестирована система микросервисов для расчёта стоимости модульных домов и бань. Все сервисы взаимодействуют через REST API, данные хранятся в </a:t>
            </a:r>
            <a:r>
              <a:rPr lang="ru-RU" sz="2200" b="0" u="none" strike="noStrike" dirty="0" err="1">
                <a:solidFill>
                  <a:srgbClr val="FFFFFF"/>
                </a:solidFill>
                <a:effectLst/>
                <a:uFillTx/>
                <a:latin typeface="Noto Sans"/>
              </a:rPr>
              <a:t>SQLite</a:t>
            </a:r>
            <a:r>
              <a:rPr lang="ru-RU" sz="2200" b="0" u="none" strike="noStrike" dirty="0">
                <a:solidFill>
                  <a:srgbClr val="FFFFFF"/>
                </a:solidFill>
                <a:effectLst/>
                <a:uFillTx/>
                <a:latin typeface="Noto Sans"/>
              </a:rPr>
              <a:t>. Система готова к эксплуатации. </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PlaceHolder 1"/>
          <p:cNvSpPr>
            <a:spLocks noGrp="1"/>
          </p:cNvSpPr>
          <p:nvPr>
            <p:ph type="title"/>
          </p:nvPr>
        </p:nvSpPr>
        <p:spPr>
          <a:xfrm>
            <a:off x="540000" y="-720000"/>
            <a:ext cx="8639280" cy="2517840"/>
          </a:xfrm>
          <a:prstGeom prst="rect">
            <a:avLst/>
          </a:prstGeom>
          <a:noFill/>
          <a:ln w="0">
            <a:noFill/>
          </a:ln>
        </p:spPr>
        <p:txBody>
          <a:bodyPr lIns="0" tIns="0" rIns="0" bIns="0" anchor="ctr">
            <a:spAutoFit/>
          </a:bodyPr>
          <a:lstStyle/>
          <a:p>
            <a: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ru-RU" sz="7200" b="1" u="none" strike="noStrike">
                <a:solidFill>
                  <a:srgbClr val="FFFFFF"/>
                </a:solidFill>
                <a:effectLst/>
                <a:uFillTx/>
                <a:latin typeface="Noto Sans"/>
              </a:rPr>
              <a:t>Сайт портфолио</a:t>
            </a:r>
          </a:p>
        </p:txBody>
      </p:sp>
      <p:pic>
        <p:nvPicPr>
          <p:cNvPr id="41" name="Рисунок 40"/>
          <p:cNvPicPr/>
          <p:nvPr/>
        </p:nvPicPr>
        <p:blipFill>
          <a:blip r:embed="rId2"/>
          <a:stretch/>
        </p:blipFill>
        <p:spPr>
          <a:xfrm>
            <a:off x="3240000" y="1440000"/>
            <a:ext cx="3600000" cy="3600000"/>
          </a:xfrm>
          <a:prstGeom prst="rect">
            <a:avLst/>
          </a:prstGeom>
          <a:noFill/>
          <a:ln w="0">
            <a:noFill/>
          </a:ln>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2160000" y="1440720"/>
            <a:ext cx="5760000" cy="2519280"/>
          </a:xfrm>
          <a:prstGeom prst="rect">
            <a:avLst/>
          </a:prstGeom>
          <a:noFill/>
          <a:ln w="0">
            <a:noFill/>
          </a:ln>
        </p:spPr>
        <p:txBody>
          <a:bodyPr lIns="0" tIns="0" rIns="0" bIns="0" anchor="ctr">
            <a:noAutofit/>
          </a:bodyPr>
          <a:lstStyle/>
          <a:p>
            <a:pPr indent="0" algn="l">
              <a:lnSpc>
                <a:spcPct val="113000"/>
              </a:lnSpc>
              <a:spcBef>
                <a:spcPts val="11"/>
              </a:spcBef>
              <a:spcAft>
                <a:spcPts val="11"/>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ru-RU" sz="7200" b="1" u="none" strike="noStrike">
                <a:solidFill>
                  <a:srgbClr val="FFFFFF"/>
                </a:solidFill>
                <a:effectLst/>
                <a:uFillTx/>
                <a:latin typeface="Noto Sans"/>
              </a:rPr>
              <a:t>Спасибо за внимание!</a:t>
            </a:r>
          </a:p>
        </p:txBody>
      </p:sp>
    </p:spTree>
  </p:cSld>
  <p:clrMapOvr>
    <a:masterClrMapping/>
  </p:clrMapOvr>
  <p:transition>
    <p:fade/>
  </p:transition>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170</TotalTime>
  <Words>178</Words>
  <Application>Microsoft Office PowerPoint</Application>
  <PresentationFormat>Произвольный</PresentationFormat>
  <Paragraphs>29</Paragraphs>
  <Slides>12</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12</vt:i4>
      </vt:variant>
    </vt:vector>
  </HeadingPairs>
  <TitlesOfParts>
    <vt:vector size="17" baseType="lpstr">
      <vt:lpstr>Arial</vt:lpstr>
      <vt:lpstr>Noto Sans</vt:lpstr>
      <vt:lpstr>Times New Roman</vt:lpstr>
      <vt:lpstr>Wingdings</vt:lpstr>
      <vt:lpstr>Office</vt:lpstr>
      <vt:lpstr>Презентация-отчет по производственной практике</vt:lpstr>
      <vt:lpstr>О компании</vt:lpstr>
      <vt:lpstr>Введение</vt:lpstr>
      <vt:lpstr>Используемые технологии</vt:lpstr>
      <vt:lpstr>Архитектура системы </vt:lpstr>
      <vt:lpstr>Код микросервисов — Главный </vt:lpstr>
      <vt:lpstr>Код микросервисов — Вспомогательные микросервисы </vt:lpstr>
      <vt:lpstr>Код микросервисов — Вспомогательные микросервисы </vt:lpstr>
      <vt:lpstr>Результат работы</vt:lpstr>
      <vt:lpstr>Вывод</vt:lpstr>
      <vt:lpstr>Сайт портфолио</vt:lpstr>
      <vt:lpstr>Спасибо за внимание!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Freshes</dc:title>
  <dc:subject/>
  <dc:creator/>
  <dc:description>
               Freshes - LibreOffice Impress Template
                        by Risyad Rais
Freshes Template is supposed to be a template for LibreOffice
Impress. But I guess calling it a placeholder or sample slides might be even
more suitable since it's not really optimized properly for LibreOffice Impress
Workflow.
This template is made as an answer to Indonesian LibreOffice Community and
Gimpscape ID's call-to-arms to contribute to the 10th anniversary of
LibreOffice celebration.
##How to
###Normal slides
1. Duplicate the slide you want to edit
2. Edit the texts
3. Rearrange the slides and remove the ones you don't need
###Icons
To change icons, go to: "Insert -&gt; Special Character"
and choose the one you like.
###Chart slides
1. Double click the chart
2. Edit Data Table
##Features
1. A fresh looking first and last slide with huge typography
2. Covered single bullet to four bullets slides
3. Charts available in two styles: Collumns and Lines
4. A very mediocre looking Diagram and Table slide
5. Timeline slides
6. Super simple Closing slide
If you tried this and have any suggestions, feel free to send a mail: satmo54[at]gmail[dot]com
##Acknowledgements
Here's some resources I used to make this template:
###Images
Images used here are licensed under [Unsplash License](https://unsplash.com/license).
1. [White clouds and blue skies](https://unsplash.com/photos/DbwYNr8RPbg) by Resul on Unsplash.
2. [Four on flight hot air balloons](https://unsplash.com/photos/HcuKlhq4osM) by C.Valdez on Unsplash.
##License
This template is released under CC by SA 4.0 License. Other resources used in
this template have their own respective licenses you might want to check.
    </dc:description>
  <cp:lastModifiedBy>310-P</cp:lastModifiedBy>
  <cp:revision>8</cp:revision>
  <dcterms:created xsi:type="dcterms:W3CDTF">2026-07-01T18:29:13Z</dcterms:created>
  <dcterms:modified xsi:type="dcterms:W3CDTF">2026-07-03T06:15:57Z</dcterms:modified>
  <dc:language>ru-RU</dc:language>
</cp:coreProperties>
</file>